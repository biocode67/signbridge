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나눔스퀘어"/>
              </a:rPr>
              <a:t>K-디지털 챌린지 · 넷 챌린지 캠프 시즌 13 · 중간평가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>
                <a:solidFill>
                  <a:srgbClr val="FFFFFF"/>
                </a:solidFill>
                <a:latin typeface="나눔스퀘어"/>
              </a:rPr>
              <a:t>들리지 않아도,</a:t>
            </a:r>
          </a:p>
          <a:p>
            <a:pPr algn="l">
              <a:lnSpc>
                <a:spcPct val="112000"/>
              </a:lnSpc>
            </a:pPr>
            <a:r>
              <a:rPr sz="4800" b="1">
                <a:solidFill>
                  <a:srgbClr val="0EA5B7"/>
                </a:solidFill>
                <a:latin typeface="나눔스퀘어"/>
              </a:rPr>
              <a:t>닿습니다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22191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DAE2EA"/>
                </a:solidFill>
                <a:latin typeface="나눔스퀘어"/>
              </a:rPr>
              <a:t>KOREN 저지연망 기반 재난정보 실시간 AI 수어(KSL) 통역·송출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61104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6B4"/>
                </a:solidFill>
                <a:latin typeface="나눔스퀘어"/>
              </a:rPr>
              <a:t>SignBridge — 재난 정보를 수어로 전달하고, 농인의 수어를 한국어와 음성으로 되돌린다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681728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95604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7A88"/>
                </a:solidFill>
                <a:latin typeface="나눔스퀘어"/>
              </a:rPr>
              <a:t>참가 분야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93776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나눔스퀘어"/>
              </a:rPr>
              <a:t>N/W 활용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95604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7A88"/>
                </a:solidFill>
                <a:latin typeface="나눔스퀘어"/>
              </a:rPr>
              <a:t>팀명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493776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나눔스퀘어"/>
              </a:rPr>
              <a:t>닿다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532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AA6B4"/>
                </a:solidFill>
                <a:latin typeface="나눔스퀘어"/>
              </a:rPr>
              <a:t>서버 없이 브라우저에서 동작 · 통신이 끊긴 재난 상황에서도 작동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375" y="5806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6E7A88"/>
                </a:solidFill>
                <a:latin typeface="나눔스퀘어"/>
              </a:rPr>
              <a:t>2026. 08. 19.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2079345" cy="45720"/>
          </a:xfrm>
          <a:prstGeom prst="rect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나눔스퀘어"/>
              </a:rPr>
              <a:t>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문제와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03  재난 정보 전달의 공백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04  시스템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05  4-에이전트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7947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7947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115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나눔스퀘어"/>
              </a:rPr>
              <a:t>개발구현 정도  30점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115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핵심 기술과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9115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9115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06–08  두 방향 기술·학습 데이터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115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09–11  정확도·번역 품질·자동 검사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9115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12–13  당사자가 쓰는 화면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8966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8966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0134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나눔스퀘어"/>
              </a:rPr>
              <a:t>KOREN 활용도  20점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0134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KOREN 활용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0134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0134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14  KOREN 자원 3종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0134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        활용 실적과 향후 방안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99985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99985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1153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나눔스퀘어"/>
              </a:rPr>
              <a:t>개발과정 적정성  30점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1153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현장과 과정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1153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1153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15–16  현장 방문과 피드백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1153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17  일정 준수와 팀 협업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1153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18  멘토 의견 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1004" y="1444752"/>
            <a:ext cx="2079345" cy="28346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1004" y="1444752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2172" y="1645920"/>
            <a:ext cx="180502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7C8A"/>
                </a:solidFill>
                <a:latin typeface="나눔스퀘어"/>
              </a:rPr>
              <a:t>기대효과  20점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2172" y="1956816"/>
            <a:ext cx="18050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한계와 기대효과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2172" y="235915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2172" y="2542032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19  아직 안 되는 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2172" y="3054096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20  다음 단계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2172" y="3566160"/>
            <a:ext cx="18050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21  구현 난이도와 기대효과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590288"/>
            <a:ext cx="11055096" cy="1207008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4590288"/>
            <a:ext cx="50292" cy="120700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482803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0EA5B7"/>
                </a:solidFill>
                <a:latin typeface="나눔스퀘어"/>
              </a:rPr>
              <a:t>오늘 드릴 말씀은 하나입니다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E3E9EF"/>
                </a:solidFill>
                <a:latin typeface="나눔스퀘어"/>
              </a:rPr>
              <a:t>한쪽만 되면 방송이고, 양쪽이 되어야 대화입니다 — 받는 방향과 묻는 방향을 모두 만들었고, 각 숫자를 어떻게 쟀는지까지 함께 말씀드립니다.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재난 정보는 농인에게 도착하지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한국수어는 한국어와 어순·문법이 다른 독립 언어입니다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왜.png"/>
          <p:cNvPicPr>
            <a:picLocks noChangeAspect="1"/>
          </p:cNvPicPr>
          <p:nvPr/>
        </p:nvPicPr>
        <p:blipFill>
          <a:blip r:embed="rId2"/>
          <a:srcRect t="2417" b="2417"/>
          <a:stretch>
            <a:fillRect/>
          </a:stretch>
        </p:blipFill>
        <p:spPr>
          <a:xfrm>
            <a:off x="6355080" y="1371600"/>
            <a:ext cx="5257800" cy="31272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1371600"/>
            <a:ext cx="5257800" cy="3127248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4663440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4663440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약 44만 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80974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국내 등록 청각장애인 (복지부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5212079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5212079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33095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69.3%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5838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일상에서 수어를 주로 사용 — 제1언어 (국립국어원)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5760720"/>
            <a:ext cx="5257800" cy="47548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5760720"/>
            <a:ext cx="41148" cy="47548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8795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수어방송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907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자막 100% 대비 의무편성 비율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154533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1481328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재난문자는 한국어 텍스트로만 발송된다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1755648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농인에게는 외국어로 온 경고문과 같다. 문해력의 문제가 아니라 언어가 다른 것이다.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2217420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21534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수어 통역은 사람이 실시간으로 붙어야 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2427732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재난은 예고 없이, 동시다발로, 전국에서 일어난다. 통역사 배치로는 감당할 수 없다.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2889503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2825496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농인은 정보를 '받기만' 해 왔다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099815"/>
            <a:ext cx="5166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대피소가 어디냐고 되물을 방법이 없다. 들리는 사람이 3초에 끝내는 일이다.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17720"/>
            <a:ext cx="5394960" cy="1298448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617720"/>
            <a:ext cx="45720" cy="129844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28032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D97B1A"/>
                </a:solidFill>
                <a:latin typeface="나눔스퀘어"/>
              </a:rPr>
              <a:t>우리가 푸는 문제</a:t>
            </a:r>
          </a:p>
          <a:p>
            <a:pPr algn="l">
              <a:lnSpc>
                <a:spcPct val="130000"/>
              </a:lnSpc>
            </a:pPr>
            <a:r>
              <a:rPr sz="1450" b="1">
                <a:solidFill>
                  <a:srgbClr val="16181D"/>
                </a:solidFill>
                <a:latin typeface="나눔스퀘어"/>
              </a:rPr>
              <a:t>양방향이어야 한다. 한쪽만 되면 방송이고,</a:t>
            </a:r>
          </a:p>
          <a:p>
            <a:pPr algn="l">
              <a:lnSpc>
                <a:spcPct val="130000"/>
              </a:lnSpc>
            </a:pPr>
            <a:r>
              <a:rPr sz="1450" b="1">
                <a:solidFill>
                  <a:srgbClr val="16181D"/>
                </a:solidFill>
                <a:latin typeface="나눔스퀘어"/>
              </a:rPr>
              <a:t>양쪽이 되어야 대화다.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시스템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서버 없이 브라우저 안에서 두 방향이 모두 동작합니다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10881360" cy="21488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691640"/>
            <a:ext cx="1874519" cy="8686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재난문자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· 직원 음성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691640"/>
            <a:ext cx="1874519" cy="8686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84708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글로스 변환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(3단 폴백)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5816" y="1691640"/>
            <a:ext cx="1874519" cy="8686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184708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3D 아바타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수어 재생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670048"/>
            <a:ext cx="1874519" cy="86868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25496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웹캠 수어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랜드마크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2670048"/>
            <a:ext cx="1874519" cy="86868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2825496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낱말 인식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13,576종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85816" y="2670048"/>
            <a:ext cx="1874519" cy="86868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825496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한국어 문장</a:t>
            </a:r>
          </a:p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나눔스퀘어"/>
              </a:rPr>
              <a:t>· 음성 출력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783080"/>
            <a:ext cx="3931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출력  한국어 → 수어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2C7A86"/>
                </a:solidFill>
                <a:latin typeface="나눔스퀘어"/>
              </a:rPr>
              <a:t>입력  수어 → 한국어·음성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6B7280"/>
                </a:solidFill>
                <a:latin typeface="나눔스퀘어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280"/>
                </a:solidFill>
                <a:latin typeface="나눔스퀘어"/>
              </a:rPr>
              <a:t>두 방향을 같은 특징 정의(155차원)로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6B7280"/>
                </a:solidFill>
                <a:latin typeface="나눔스퀘어"/>
              </a:rPr>
              <a:t>묶어, 학습과 추론이 어긋나지 않게 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12,833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수어 동작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실제 농인 수어자 영상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7287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47287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13,576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674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인식 낱말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수어자 분리 학습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7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7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28,125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전국 장소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대피소 14,134곳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25128" y="3913632"/>
            <a:ext cx="260604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25128" y="3913632"/>
            <a:ext cx="260604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4133088"/>
            <a:ext cx="216712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470001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서버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974336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전부 브라우저 안에서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559552"/>
            <a:ext cx="10881360" cy="65836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559552"/>
            <a:ext cx="45720" cy="65836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705856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두 방향 모두 서버 없이 브라우저 안에서 동작합니다 — 통신이 끊긴 재난 현장에서도 그대로 쓸 수 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수치는 저장소의 검사 스크립트가 재계산합니다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4개의 에이전트가 이어서 일합니다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각 단계의 결과를 기록해, 조용한 실패를 검사로 잡아냅니다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에이전트.png"/>
          <p:cNvPicPr>
            <a:picLocks noChangeAspect="1"/>
          </p:cNvPicPr>
          <p:nvPr/>
        </p:nvPicPr>
        <p:blipFill>
          <a:blip r:embed="rId2"/>
          <a:srcRect t="2381" b="2381"/>
          <a:stretch>
            <a:fillRect/>
          </a:stretch>
        </p:blipFill>
        <p:spPr>
          <a:xfrm>
            <a:off x="658368" y="1371600"/>
            <a:ext cx="5760720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760720" cy="342900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536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① 재난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8379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문자에서 재난 종류·심각도·지역을 뽑는다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23317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23317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5059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② 수어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7523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한국어 문장을 글로스 열로 — 3단 폴백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2461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32461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364991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③ 질의응답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6667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농인의 질문을 의도로 바꾸고 답을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4160520"/>
            <a:ext cx="4828032" cy="7863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4160520"/>
            <a:ext cx="45720" cy="7863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2793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7C8A"/>
                </a:solidFill>
                <a:latin typeface="나눔스퀘어"/>
              </a:rPr>
              <a:t>④ 송출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5811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글로스를 키포인트로 이어 아바타를 움직인다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56048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② 수어 변환의 3단 폴백 — 앞이 못 하면 뒤가 받는다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303520"/>
            <a:ext cx="1737360" cy="8412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① 학습 모델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나눔스퀘어"/>
              </a:rPr>
              <a:t>t2gs-v2 · 재난문자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나눔스퀘어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0048" y="5303520"/>
            <a:ext cx="1737360" cy="841248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② 통계 사전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나눔스퀘어"/>
              </a:rPr>
              <a:t>Dice 정렬 · 23만 낱말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나눔스퀘어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8" y="5303520"/>
            <a:ext cx="1737360" cy="841248"/>
          </a:xfrm>
          <a:prstGeom prst="rect">
            <a:avLst/>
          </a:prstGeom>
          <a:solidFill>
            <a:srgbClr val="8A9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54315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③ 규칙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7241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E8EFF3"/>
                </a:solidFill>
                <a:latin typeface="나눔스퀘어"/>
              </a:rPr>
              <a:t>조사·어미 처리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4956048"/>
            <a:ext cx="4828032" cy="1188720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4956048"/>
            <a:ext cx="41148" cy="11887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512064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모델이 조용히 빠져도 화면은 똑같습니다.</a:t>
            </a:r>
          </a:p>
          <a:p>
            <a:pPr algn="l">
              <a:lnSpc>
                <a:spcPct val="13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그래서 어느 단계가 답했는지를 화면 속성으로 남기고,</a:t>
            </a:r>
          </a:p>
          <a:p>
            <a:pPr algn="l">
              <a:lnSpc>
                <a:spcPct val="13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자동 검사가 이를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핵심기술 ① 한국어를 수어로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문장 → 글로스 열 → 실제 수어자의 키포인트를 이어 재생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받기.png"/>
          <p:cNvPicPr>
            <a:picLocks noChangeAspect="1"/>
          </p:cNvPicPr>
          <p:nvPr/>
        </p:nvPicPr>
        <p:blipFill>
          <a:blip r:embed="rId2"/>
          <a:srcRect t="44" b="44"/>
          <a:stretch>
            <a:fillRect/>
          </a:stretch>
        </p:blipFill>
        <p:spPr>
          <a:xfrm>
            <a:off x="658368" y="1298448"/>
            <a:ext cx="2075688" cy="4443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298448"/>
            <a:ext cx="2075688" cy="4443984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815584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받기 화면 — 재난문자가 수어로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1481328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학습 모델 t2gs-v2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한국어 음절 → 글로스 seq2seq. 23.3M 파라미터를 int8 30MB로 줄여 브라우저에 넣었다.</a:t>
            </a:r>
          </a:p>
        </p:txBody>
      </p:sp>
      <p:sp>
        <p:nvSpPr>
          <p:cNvPr id="14" name="Oval 13"/>
          <p:cNvSpPr/>
          <p:nvPr/>
        </p:nvSpPr>
        <p:spPr>
          <a:xfrm>
            <a:off x="3108960" y="2153412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89404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통계 정렬 사전 23만 낱말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63724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어떤 한국어 낱말이 어떤 글로스와 함께 나오는지 Dice 계수로 세어 만들었다. 활용형·조사형 포함.</a:t>
            </a:r>
          </a:p>
        </p:txBody>
      </p:sp>
      <p:sp>
        <p:nvSpPr>
          <p:cNvPr id="17" name="Oval 16"/>
          <p:cNvSpPr/>
          <p:nvPr/>
        </p:nvSpPr>
        <p:spPr>
          <a:xfrm>
            <a:off x="3108960" y="2825496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761488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동작 사전 12,833종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35808"/>
            <a:ext cx="4069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AI Hub 수어 영상의 실제 농인 수어자 키포인트. 사람이 그린 애니메이션이 아니다.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703320"/>
            <a:ext cx="4297680" cy="2103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3703320"/>
            <a:ext cx="41148" cy="2103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3877056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1">
                <a:solidFill>
                  <a:srgbClr val="0A7C8A"/>
                </a:solidFill>
                <a:latin typeface="나눔스퀘어"/>
              </a:rPr>
              <a:t>지금 앱에 붙어 있는 것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t2gs-v2를 int8로 줄인 30MB 모델이 브라우저 안에서 돕니다.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1스레드에서 문장당 144ms — 서버로 보내지 않습니다.</a:t>
            </a:r>
          </a:p>
          <a:p>
            <a:pPr algn="l">
              <a:lnSpc>
                <a:spcPct val="132000"/>
              </a:lnSpc>
            </a:pPr>
            <a:r>
              <a:rPr sz="500" b="0">
                <a:solidFill>
                  <a:srgbClr val="6B7280"/>
                </a:solidFill>
                <a:latin typeface="나눔스퀘어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줄인 뒤에도 품질이 무너지지 않았는지 따로 쟀습니다.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검증 400문장에서 BLEU 27.3 · 글로스 F1 62.6.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463040"/>
            <a:ext cx="3822191" cy="2148840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664208"/>
            <a:ext cx="3383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>
                <a:solidFill>
                  <a:srgbClr val="D97B1A"/>
                </a:solidFill>
                <a:latin typeface="나눔스퀘어"/>
              </a:rPr>
              <a:t>행동요령은 모델을 쓰지 않습니다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모델은 공지 말투로 배웠고 행동요령은 명령 말투다.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맡겨 보니 “엘리베이터를 타지 말고 계단으로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대피하세요”가 엉뚱한 글로스로 나갔다.</a:t>
            </a:r>
          </a:p>
          <a:p>
            <a:pPr algn="l">
              <a:lnSpc>
                <a:spcPct val="128000"/>
              </a:lnSpc>
            </a:pPr>
            <a:r>
              <a:rPr sz="1050" b="1">
                <a:solidFill>
                  <a:srgbClr val="16181D"/>
                </a:solidFill>
                <a:latin typeface="나눔스퀘어"/>
              </a:rPr>
              <a:t>목숨이 걸린 안내라 도메인으로 분기했다.</a:t>
            </a:r>
          </a:p>
        </p:txBody>
      </p:sp>
      <p:pic>
        <p:nvPicPr>
          <p:cNvPr id="25" name="Picture 24" descr="chart_번역.png"/>
          <p:cNvPicPr>
            <a:picLocks noChangeAspect="1"/>
          </p:cNvPicPr>
          <p:nvPr/>
        </p:nvPicPr>
        <p:blipFill>
          <a:blip r:embed="rId3"/>
          <a:srcRect t="33" b="33"/>
          <a:stretch>
            <a:fillRect/>
          </a:stretch>
        </p:blipFill>
        <p:spPr>
          <a:xfrm>
            <a:off x="7726679" y="3675887"/>
            <a:ext cx="3822191" cy="2148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26679" y="5870448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번역 품질 — 사람 번역가 정답과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핵심기술 ② 수어를 한국어와 음성으로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웹캠 → 관절 좌표 → 낱말 인식 → 문장 → 음성. 영상은 기기 밖으로 나가지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인식.png"/>
          <p:cNvPicPr>
            <a:picLocks noChangeAspect="1"/>
          </p:cNvPicPr>
          <p:nvPr/>
        </p:nvPicPr>
        <p:blipFill>
          <a:blip r:embed="rId2"/>
          <a:srcRect t="46" b="46"/>
          <a:stretch>
            <a:fillRect/>
          </a:stretch>
        </p:blipFill>
        <p:spPr>
          <a:xfrm>
            <a:off x="658368" y="1371600"/>
            <a:ext cx="5989320" cy="3739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989320" cy="3739896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361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① 랜드마크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470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MediaPipe로 상반신·양손 관절 좌표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350008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4688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② 155차원 특징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797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어깨 기준 정규화 — 학습·추론이 같은 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282696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4015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③ 트랜스포머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712463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2.8M 파라미터 · ONNX int8 · 브라우저 추론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215384"/>
            <a:ext cx="4599432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33425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④ 문장·음성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64515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낱말을 잇고 규칙으로 한국어 문장을 만든다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321808"/>
            <a:ext cx="10881360" cy="914400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321808"/>
            <a:ext cx="45720" cy="9144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가장 찾기 어려운 실패 — 학습 특징과 추론 특징이 어긋나면 “검증 정확도 95%인데 웹캠에선 0%”가 됩니다.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나눔스퀘어"/>
              </a:rPr>
              <a:t>파이썬 학습 코드와 브라우저 추론 코드의 수치를 대조하는 검사를 두어 현재 오차 0을 유지합니다.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학습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AI Hub 수어 말뭉치 — 원본을 직접 열어 확인하며 가공했습니다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규모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57784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1417320"/>
            <a:ext cx="5010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실데이터에서 확인한 함정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874519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75103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확장자가 .zip인데 실제로는 7z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5856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매직 바이트로 판별. 통짜 압축이라 한 번만 훑으며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15768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81635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메타가 중첩되어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99815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signer가 최상위에 없다 — 못 찾으면 수어자 분리가 무력화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557015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657599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파일명 표기가 문서와 다름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41063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가이드 FINSP · 실데이터 FS — 0건인데 오류도 안 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398264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49884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좌표 단위가 제각각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mm·m·픽셀 혼재. 절대 임계값 대신 중앙값 기준으로 판정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5239512"/>
            <a:ext cx="5010912" cy="7315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34009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나눔스퀘어"/>
              </a:rPr>
              <a:t>깊이 추정 실패 프레임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62356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-25,000,000 같은 값 혼입 — 정제 없이는 학습이 망가진다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09160"/>
            <a:ext cx="5577840" cy="148132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01184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평가는 수어자 분리로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같은 사람이 학습과 평가에 함께 있으면 모델이 그 사람의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버릇을 외워 정확도가 부풀어 오릅니다. 발표하는 숫자는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모두 수어자 단위로 완전히 분리해서 잰 값입니다.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검증 ① 수어 낱말 인식 정확도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처음 보는 수어자에서도 검증치와 같은 성능이 나왔습니다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정확도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85216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2280" y="1417320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417320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31736" y="1636776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13,576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2203704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인식 클래스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2478024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이전 판 8,147 → 1.7배 어려운 문제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044952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044952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3264408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49,721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3831336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미지 수어자 표본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4105656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학습에 없던 13명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4672584"/>
            <a:ext cx="473659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4672584"/>
            <a:ext cx="47365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1736" y="4892040"/>
            <a:ext cx="42976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5458968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특징 정의 오차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5733288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파이썬 학습 ↔ 브라우저 추론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892040"/>
            <a:ext cx="5852160" cy="1325880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7C8A"/>
                </a:solidFill>
                <a:latin typeface="나눔스퀘어"/>
              </a:rPr>
              <a:t>왜 78%가 낮은 수치가 아닌가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13,576개 중에서 하나를 고르는 문제입니다. 그리고 학습에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없던 사람에게서도 같은 값이 나왔습니다 — 외운 것이 아니라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일반화되었다는 뜻입니다.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중간보고서(8/17) 이후 iso-v2로 교체 — 클래스 8,147→13,576, 같은 기준으로 다시 쟀습니다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검증 ② 번역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표현률은 “나갔는가”만 잽니다 — 맞게 나갔는지는 따로 쟀습니다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표현률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71500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표현률만으로는 부족합니다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47088"/>
            <a:ext cx="4873752" cy="1417320"/>
          </a:xfrm>
          <a:prstGeom prst="rect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4434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복합어 처리 버그로</a:t>
            </a:r>
          </a:p>
          <a:p>
            <a:pPr algn="l">
              <a:lnSpc>
                <a:spcPct val="128000"/>
              </a:lnSpc>
            </a:pPr>
            <a:r>
              <a:rPr sz="1150" b="1">
                <a:solidFill>
                  <a:srgbClr val="B03939"/>
                </a:solidFill>
                <a:latin typeface="나눔스퀘어"/>
              </a:rPr>
              <a:t>“어디가 아프신지” → 어디 아프다 신다(신발)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나눔스퀘어"/>
              </a:rPr>
              <a:t>로 번역되던 동안에도 표현률은 그대로였습니다.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나눔스퀘어"/>
              </a:rPr>
              <a:t>잘못된 수어는 표현되지 않은 것보다 나쁩니다 —</a:t>
            </a:r>
          </a:p>
          <a:p>
            <a:pPr algn="l">
              <a:lnSpc>
                <a:spcPct val="128000"/>
              </a:lnSpc>
            </a:pPr>
            <a:r>
              <a:rPr sz="1030" b="0">
                <a:solidFill>
                  <a:srgbClr val="16181D"/>
                </a:solidFill>
                <a:latin typeface="나눔스퀘어"/>
              </a:rPr>
              <a:t>농인은 그것을 믿기 때문입니다.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456432"/>
            <a:ext cx="4873752" cy="135331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456432"/>
            <a:ext cx="48737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3675887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424281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오역 회귀 사례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451713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한 번이라도 틀렸던 문장을 박아 두었다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919472"/>
            <a:ext cx="4873752" cy="1353312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919472"/>
            <a:ext cx="48737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5138928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2,388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570585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재생 확인 글로스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598017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번역이 낸 글로스가 실제로 재생되는가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617720"/>
            <a:ext cx="5715000" cy="157276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5257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튜닝에 쓴 문장으로 재지 않습니다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나눔스퀘어"/>
              </a:rPr>
              <a:t>사전을 고칠 때는 튜닝 집합만 보고, 홀드아웃은 결과 확인에만 씁니다.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나눔스퀘어"/>
              </a:rPr>
              <a:t>홀드아웃을 보고 고치기 시작하면 그 순간 홀드아웃이 아니기 때문입니다.</a:t>
            </a:r>
          </a:p>
          <a:p>
            <a:pPr algn="l">
              <a:lnSpc>
                <a:spcPct val="132000"/>
              </a:lnSpc>
            </a:pPr>
            <a:r>
              <a:rPr sz="1060" b="0">
                <a:solidFill>
                  <a:srgbClr val="16181D"/>
                </a:solidFill>
                <a:latin typeface="나눔스퀘어"/>
              </a:rPr>
              <a:t>창구 대화 홀드아웃 94.8% — 이 숫자가 일반화를 재는 정직한 값입니다.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검증 ③ 자동 검증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이 앱의 실패는 대부분 “화면은 정상인데 알맹이가 없는” 모양입니다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검증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368" y="1325880"/>
            <a:ext cx="57150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4173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나눔스퀘어"/>
              </a:rPr>
              <a:t>눈으로는 잡히지 않는 실패들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74519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874519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00253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아바타가 조용히 서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31343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글로스가 사전에 없으면 오류 없이 건너뛴다.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한국어 자막은 그대로 떠 있어 정상으로 보인다.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108960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108960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23697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부정이 사라짐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54787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“약을 안 먹었어요” → 약 먹다.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한 글자라 “너무 짧다”는 규칙에 걸려 버려졌다.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343400"/>
            <a:ext cx="4873752" cy="10972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343400"/>
            <a:ext cx="45720" cy="109728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471416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방향이 뒤집힘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4782312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“북동쪽”이 “km 지진 크기”로 번역됐다.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화살표도 그려지고 숫자도 떠서 화면은 멀쩡했다.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709160"/>
            <a:ext cx="5715000" cy="148132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01184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전 항목 통과 · 매 변경마다 실행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폰·태블릿(가로/세로)·키오스크·오프라인에서 실제로 눌러 보고,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번역이 낸 글로스가 실제로 재생되는지까지 확인합니다.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16181D"/>
                </a:solidFill>
                <a:latin typeface="나눔스퀘어"/>
              </a:rPr>
              <a:t>숫자가 아니라 동작으로 확인합니다.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당사자 화면 — 네 개의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농인이 실제로 쓰는 화면입니다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app_받기.png"/>
          <p:cNvPicPr>
            <a:picLocks noChangeAspect="1"/>
          </p:cNvPicPr>
          <p:nvPr/>
        </p:nvPicPr>
        <p:blipFill>
          <a:blip r:embed="rId2"/>
          <a:srcRect t="18136" b="18136"/>
          <a:stretch>
            <a:fillRect/>
          </a:stretch>
        </p:blipFill>
        <p:spPr>
          <a:xfrm>
            <a:off x="658368" y="1325880"/>
            <a:ext cx="5394960" cy="2148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38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받기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재난문자가 수어로 나온다</a:t>
            </a:r>
          </a:p>
        </p:txBody>
      </p:sp>
      <p:pic>
        <p:nvPicPr>
          <p:cNvPr id="12" name="Picture 11" descr="web_app_묻기.png"/>
          <p:cNvPicPr>
            <a:picLocks noChangeAspect="1"/>
          </p:cNvPicPr>
          <p:nvPr/>
        </p:nvPicPr>
        <p:blipFill>
          <a:blip r:embed="rId3"/>
          <a:srcRect t="18136" b="18136"/>
          <a:stretch>
            <a:fillRect/>
          </a:stretch>
        </p:blipFill>
        <p:spPr>
          <a:xfrm>
            <a:off x="6144768" y="1325880"/>
            <a:ext cx="5394960" cy="2148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44768" y="1325880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3538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묻기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566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수어로 묻고 수어로 답받는다</a:t>
            </a:r>
          </a:p>
        </p:txBody>
      </p:sp>
      <p:pic>
        <p:nvPicPr>
          <p:cNvPr id="16" name="Picture 15" descr="web_app_대화.png"/>
          <p:cNvPicPr>
            <a:picLocks noChangeAspect="1"/>
          </p:cNvPicPr>
          <p:nvPr/>
        </p:nvPicPr>
        <p:blipFill>
          <a:blip r:embed="rId4"/>
          <a:srcRect t="18136" b="18136"/>
          <a:stretch>
            <a:fillRect/>
          </a:stretch>
        </p:blipFill>
        <p:spPr>
          <a:xfrm>
            <a:off x="658368" y="3913632"/>
            <a:ext cx="5394960" cy="2148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8368" y="3913632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126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61539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창구 — 직원 말 ↔ 농인 답</a:t>
            </a:r>
          </a:p>
        </p:txBody>
      </p:sp>
      <p:pic>
        <p:nvPicPr>
          <p:cNvPr id="20" name="Picture 19" descr="web_app_사전.png"/>
          <p:cNvPicPr>
            <a:picLocks noChangeAspect="1"/>
          </p:cNvPicPr>
          <p:nvPr/>
        </p:nvPicPr>
        <p:blipFill>
          <a:blip r:embed="rId5"/>
          <a:srcRect t="18136" b="18136"/>
          <a:stretch>
            <a:fillRect/>
          </a:stretch>
        </p:blipFill>
        <p:spPr>
          <a:xfrm>
            <a:off x="6144768" y="3913632"/>
            <a:ext cx="5394960" cy="21488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144768" y="3913632"/>
            <a:ext cx="5394960" cy="214884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6126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나눔스퀘어"/>
              </a:rPr>
              <a:t>사전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61539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낱말을 찾아 수어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키오스크 모드 · 오프라인 · PWA 설치 지원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농인이 ‘묻는’ 쪽이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통신이 끊긴 상태에서도 위치 기반으로 답합니다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app_묻기.png"/>
          <p:cNvPicPr>
            <a:picLocks noChangeAspect="1"/>
          </p:cNvPicPr>
          <p:nvPr/>
        </p:nvPicPr>
        <p:blipFill>
          <a:blip r:embed="rId2"/>
          <a:srcRect t="18114" b="18114"/>
          <a:stretch>
            <a:fillRect/>
          </a:stretch>
        </p:blipFill>
        <p:spPr>
          <a:xfrm>
            <a:off x="658368" y="1325880"/>
            <a:ext cx="6400800" cy="25511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25880"/>
            <a:ext cx="6400800" cy="2551176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31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묻기 화면 — 방향 · 거리 · 걸리는 시간 · 방향 지도 · 아바타 수어 응답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34840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70832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의도 판정 · 방향과 거리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645152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낱말 묶음을 의도로 바꾸고, 지구 곡률을 반영해 거리와 여덟 방위를 계산해 어림수 수어로 답한다.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106924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042916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타일 없는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3172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나눔스퀘어"/>
              </a:rPr>
              <a:t>지도 이미지를 내려받지 않고 직접 그린다. 그래서 오프라인에서도 방향을 보여 준다.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4279392" cy="1874519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517904"/>
            <a:ext cx="374903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A5B7"/>
                </a:solidFill>
                <a:latin typeface="나눔스퀘어"/>
              </a:rPr>
              <a:t>비행기 모드에서도 답합니다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인식 모델·동작 사전·장소 목록을 모두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기기에 저장해 둡니다.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재난이 나면 통신이 먼저 끊깁니다.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재난 때가 곧 오프라인입니다.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3346704"/>
            <a:ext cx="4279392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346704"/>
            <a:ext cx="42793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3566160"/>
            <a:ext cx="3840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28,125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413308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전국 장소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440740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대피소 14,134 · 병원 5,992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4718304"/>
            <a:ext cx="4279392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4718304"/>
            <a:ext cx="42793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6" y="4937760"/>
            <a:ext cx="38404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550468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지도 서버 요청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779008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SVG로 직접 그린다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장소 목록은 OSM 기반 참고용 — 공공데이터 인증키로 공식 목록 교체 예정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KOREN 자원을 셋으로 나눠 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성격이 다른 세 자원이라 하나로 다 하려 하면 어느 쪽도 제대로 안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5806440" cy="13716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45720" cy="13716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264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나눔스퀘어"/>
              </a:rPr>
              <a:t>① AI Cloud (CHEETAH)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435607"/>
            <a:ext cx="1143000" cy="274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472184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학습 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755648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A7C8A"/>
                </a:solidFill>
                <a:latin typeface="나눔스퀘어"/>
              </a:rPr>
              <a:t>NVIDIA H200 MIG 1g.35GB · vCPU 16 · RAM 128Gi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029967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AI Hub 실데이터 133GB 수신, 무해제 스트리밍 ETL로 40만 클립 가공.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인식·번역 모델 학습과 평가 — 에폭당 21~25분에 215만 세그먼트 처리.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5806440" cy="13716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779776"/>
            <a:ext cx="45720" cy="137160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077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나눔스퀘어"/>
              </a:rPr>
              <a:t>② HPC 이노베이션 허브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2916936"/>
            <a:ext cx="1143000" cy="2743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2953512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CPU 전처리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236976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A7C8A"/>
                </a:solidFill>
                <a:latin typeface="나눔스퀘어"/>
              </a:rPr>
              <a:t>Xeon Gold VM 여러 대 · PBS Torque 스케줄러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511296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영상 → 랜드마크 변환은 클립마다 독립이라 나누기 쉽습니다.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샤딩 옵션과 잡 스크립트를 준비했고, 8월 4주 VM 4대로 분산 변환합니다.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61104"/>
            <a:ext cx="5806440" cy="13716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61104"/>
            <a:ext cx="45720" cy="137160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89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나눔스퀘어"/>
              </a:rPr>
              <a:t>③ KOREN 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4398264"/>
            <a:ext cx="1143000" cy="27432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434840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상시 서버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18304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A7C8A"/>
                </a:solidFill>
                <a:latin typeface="나눔스퀘어"/>
              </a:rPr>
              <a:t>24시간 가동 · NOC 발급 SSH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992624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9월부터 정적 사이트와 번역 API를 상시 운영합니다.</a:t>
            </a:r>
          </a:p>
          <a:p>
            <a:pPr algn="l">
              <a:lnSpc>
                <a:spcPct val="125000"/>
              </a:lnSpc>
            </a:pPr>
            <a:r>
              <a:rPr sz="1019" b="0">
                <a:solidFill>
                  <a:srgbClr val="6B7280"/>
                </a:solidFill>
                <a:latin typeface="나눔스퀘어"/>
              </a:rPr>
              <a:t>심사·시연에서 언제든 열리는 고정 주소를 둡니다.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779008"/>
            <a:ext cx="5806440" cy="566928"/>
          </a:xfrm>
          <a:prstGeom prst="rect">
            <a:avLst/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779008"/>
            <a:ext cx="45720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90702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181D"/>
                </a:solidFill>
                <a:latin typeface="나눔스퀘어"/>
              </a:rPr>
              <a:t>MIG는 메모리는 넉넉하고 연산이 부족합니다 — 영상 CNN 대신 랜드마크 트랜스포머를 골랐습니다.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1298448"/>
            <a:ext cx="47640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나눔스퀘어"/>
              </a:rPr>
              <a:t>이용 내역</a:t>
            </a:r>
          </a:p>
        </p:txBody>
      </p:sp>
      <p:sp>
        <p:nvSpPr>
          <p:cNvPr id="33" name="Oval 32"/>
          <p:cNvSpPr/>
          <p:nvPr/>
        </p:nvSpPr>
        <p:spPr>
          <a:xfrm>
            <a:off x="6784848" y="17922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17007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나눔스퀘어"/>
              </a:rPr>
              <a:t>8월 5일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17007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나눔스퀘어"/>
              </a:rPr>
              <a:t>HPC 이노베이션 허브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17007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활용 교육 · PBS 분산 작업 구성 습득</a:t>
            </a:r>
          </a:p>
        </p:txBody>
      </p:sp>
      <p:sp>
        <p:nvSpPr>
          <p:cNvPr id="37" name="Oval 36"/>
          <p:cNvSpPr/>
          <p:nvPr/>
        </p:nvSpPr>
        <p:spPr>
          <a:xfrm>
            <a:off x="6784848" y="22494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21579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나눔스퀘어"/>
              </a:rPr>
              <a:t>8월 7일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21579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나눔스퀘어"/>
              </a:rPr>
              <a:t>KOREN AI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21579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활용 교육 · GPU 워크스페이스·볼륨 운영</a:t>
            </a:r>
          </a:p>
        </p:txBody>
      </p:sp>
      <p:sp>
        <p:nvSpPr>
          <p:cNvPr id="41" name="Oval 40"/>
          <p:cNvSpPr/>
          <p:nvPr/>
        </p:nvSpPr>
        <p:spPr>
          <a:xfrm>
            <a:off x="6784848" y="27066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26151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나눔스퀘어"/>
              </a:rPr>
              <a:t>8월 2주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26151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나눔스퀘어"/>
              </a:rPr>
              <a:t>KOREN AI 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608" y="26151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워크스페이스 구축, 회선·AI Hub 접속 점검</a:t>
            </a:r>
          </a:p>
        </p:txBody>
      </p:sp>
      <p:sp>
        <p:nvSpPr>
          <p:cNvPr id="45" name="Oval 44"/>
          <p:cNvSpPr/>
          <p:nvPr/>
        </p:nvSpPr>
        <p:spPr>
          <a:xfrm>
            <a:off x="6784848" y="31638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나눔스퀘어"/>
              </a:rPr>
              <a:t>8월 2~3주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30723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나눔스퀘어"/>
              </a:rPr>
              <a:t>KOREN AI Cloud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6608" y="30723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실데이터 133GB 수신 · 40만 클립 ETL</a:t>
            </a:r>
          </a:p>
        </p:txBody>
      </p:sp>
      <p:sp>
        <p:nvSpPr>
          <p:cNvPr id="49" name="Oval 48"/>
          <p:cNvSpPr/>
          <p:nvPr/>
        </p:nvSpPr>
        <p:spPr>
          <a:xfrm>
            <a:off x="6784848" y="362102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35295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6181D"/>
                </a:solidFill>
                <a:latin typeface="나눔스퀘어"/>
              </a:rPr>
              <a:t>8월 3주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8" y="35295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EA5B7"/>
                </a:solidFill>
                <a:latin typeface="나눔스퀘어"/>
              </a:rPr>
              <a:t>KOREN AI Cloud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6608" y="35295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인식·번역 학습 · 수어자 분리 평가</a:t>
            </a:r>
          </a:p>
        </p:txBody>
      </p:sp>
      <p:sp>
        <p:nvSpPr>
          <p:cNvPr id="53" name="Oval 52"/>
          <p:cNvSpPr/>
          <p:nvPr/>
        </p:nvSpPr>
        <p:spPr>
          <a:xfrm>
            <a:off x="6784848" y="4078224"/>
            <a:ext cx="64008" cy="64008"/>
          </a:xfrm>
          <a:prstGeom prst="ellipse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67728" y="39867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B7280"/>
                </a:solidFill>
                <a:latin typeface="나눔스퀘어"/>
              </a:rPr>
              <a:t>8월 4주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3568" y="39867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A9B4BF"/>
                </a:solidFill>
                <a:latin typeface="나눔스퀘어"/>
              </a:rPr>
              <a:t>HPC (예정)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39867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다각도 48,000클립 분산 변환</a:t>
            </a:r>
          </a:p>
        </p:txBody>
      </p:sp>
      <p:sp>
        <p:nvSpPr>
          <p:cNvPr id="57" name="Oval 56"/>
          <p:cNvSpPr/>
          <p:nvPr/>
        </p:nvSpPr>
        <p:spPr>
          <a:xfrm>
            <a:off x="6784848" y="4535424"/>
            <a:ext cx="64008" cy="64008"/>
          </a:xfrm>
          <a:prstGeom prst="ellipse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7728" y="44439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B7280"/>
                </a:solidFill>
                <a:latin typeface="나눔스퀘어"/>
              </a:rPr>
              <a:t>9월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3568" y="44439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A9B4BF"/>
                </a:solidFill>
                <a:latin typeface="나눔스퀘어"/>
              </a:rPr>
              <a:t>KOREN VM (예정)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36608" y="44439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상시 데모 서버 운영</a:t>
            </a:r>
          </a:p>
        </p:txBody>
      </p:sp>
      <p:sp>
        <p:nvSpPr>
          <p:cNvPr id="61" name="Oval 60"/>
          <p:cNvSpPr/>
          <p:nvPr/>
        </p:nvSpPr>
        <p:spPr>
          <a:xfrm>
            <a:off x="6784848" y="4992624"/>
            <a:ext cx="64008" cy="64008"/>
          </a:xfrm>
          <a:prstGeom prst="ellipse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8" y="49011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B7280"/>
                </a:solidFill>
                <a:latin typeface="나눔스퀘어"/>
              </a:rPr>
              <a:t>10월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73568" y="4901184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A9B4BF"/>
                </a:solidFill>
                <a:latin typeface="나눔스퀘어"/>
              </a:rPr>
              <a:t>KOREN 실회선·POP (예정)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36608" y="4901184"/>
            <a:ext cx="21122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6B7280"/>
                </a:solidFill>
                <a:latin typeface="나눔스퀘어"/>
              </a:rPr>
              <a:t>다지점 송출 지연 실측 · 현장 시연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84848" y="5440680"/>
            <a:ext cx="4764024" cy="905256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5577840"/>
            <a:ext cx="4343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나눔스퀘어"/>
              </a:rPr>
              <a:t>왜 KOREN에 맞는 과제인가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D5DDE5"/>
                </a:solidFill>
                <a:latin typeface="나눔스퀘어"/>
              </a:rPr>
              <a:t>영상 대신 관절좌표를 보냅니다 — 문장당 약 2.4KB, 영상의 1/2,000.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D5DDE5"/>
                </a:solidFill>
                <a:latin typeface="나눔스퀘어"/>
              </a:rPr>
              <a:t>10월 실회선 POP에서 다지점 송출 종단 지연을 실측합니다.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현장 방문 — 두 곳의 복지관에서 직접 확인했습니다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수어 이용자에게 시연하고, 개선점과 피드백을 받았습니다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.jpg"/>
          <p:cNvPicPr>
            <a:picLocks noChangeAspect="1"/>
          </p:cNvPicPr>
          <p:nvPr/>
        </p:nvPicPr>
        <p:blipFill>
          <a:blip r:embed="rId2"/>
          <a:srcRect l="370" r="370"/>
          <a:stretch>
            <a:fillRect/>
          </a:stretch>
        </p:blipFill>
        <p:spPr>
          <a:xfrm>
            <a:off x="658368" y="1371600"/>
            <a:ext cx="30632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경산시장애인종합복지관</a:t>
            </a: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3"/>
          <a:srcRect l="4961" r="4961"/>
          <a:stretch>
            <a:fillRect/>
          </a:stretch>
        </p:blipFill>
        <p:spPr>
          <a:xfrm>
            <a:off x="3950208" y="1371600"/>
            <a:ext cx="306324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50208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대구광역시청각언어장애인복지관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371600"/>
            <a:ext cx="4187952" cy="20574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572768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A5B7"/>
                </a:solidFill>
                <a:latin typeface="나눔스퀘어"/>
              </a:rPr>
              <a:t>왜 현장에 갔는가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표현률과 BLEU는 “낱말이 나갔는가 / 맞게 나갔는가”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까지만 잽니다. 농인이 보고 뜻이 통하는지는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5CED8"/>
                </a:solidFill>
                <a:latin typeface="나눔스퀘어"/>
              </a:rPr>
              <a:t>다른 질문입니다.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실험실 숫자만으로는 알 수 없는 것을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나눔스퀘어"/>
              </a:rPr>
              <a:t>사용자에게 직접 물었습니다.</a:t>
            </a:r>
          </a:p>
        </p:txBody>
      </p:sp>
      <p:pic>
        <p:nvPicPr>
          <p:cNvPr id="14" name="Picture 13" descr="01.jpg"/>
          <p:cNvPicPr>
            <a:picLocks noChangeAspect="1"/>
          </p:cNvPicPr>
          <p:nvPr/>
        </p:nvPicPr>
        <p:blipFill>
          <a:blip r:embed="rId4"/>
          <a:srcRect t="2670" b="2670"/>
          <a:stretch>
            <a:fillRect/>
          </a:stretch>
        </p:blipFill>
        <p:spPr>
          <a:xfrm>
            <a:off x="658368" y="3913632"/>
            <a:ext cx="3520440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8795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수어 이용자에게 직접 시연</a:t>
            </a:r>
          </a:p>
        </p:txBody>
      </p:sp>
      <p:pic>
        <p:nvPicPr>
          <p:cNvPr id="16" name="Picture 15" descr="02.jpg"/>
          <p:cNvPicPr>
            <a:picLocks noChangeAspect="1"/>
          </p:cNvPicPr>
          <p:nvPr/>
        </p:nvPicPr>
        <p:blipFill>
          <a:blip r:embed="rId5"/>
          <a:srcRect t="2670" b="2670"/>
          <a:stretch>
            <a:fillRect/>
          </a:stretch>
        </p:blipFill>
        <p:spPr>
          <a:xfrm>
            <a:off x="4407408" y="3913632"/>
            <a:ext cx="3520440" cy="18745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07408" y="58795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질의응답 화면 확인</a:t>
            </a:r>
          </a:p>
        </p:txBody>
      </p:sp>
      <p:pic>
        <p:nvPicPr>
          <p:cNvPr id="18" name="Picture 17" descr="03.jpg"/>
          <p:cNvPicPr>
            <a:picLocks noChangeAspect="1"/>
          </p:cNvPicPr>
          <p:nvPr/>
        </p:nvPicPr>
        <p:blipFill>
          <a:blip r:embed="rId6"/>
          <a:srcRect t="883" b="883"/>
          <a:stretch>
            <a:fillRect/>
          </a:stretch>
        </p:blipFill>
        <p:spPr>
          <a:xfrm>
            <a:off x="8156448" y="3913632"/>
            <a:ext cx="3392424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56448" y="5879592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함께 조작하며 관찰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2026년 8월 · 경산 · 대구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실제 이용을 돕고, 개선점을 받았습니다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아바타 수어를 함께 보며 무엇이 읽히고 무엇이 안 읽히는지 확인했습니다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.jpg"/>
          <p:cNvPicPr>
            <a:picLocks noChangeAspect="1"/>
          </p:cNvPicPr>
          <p:nvPr/>
        </p:nvPicPr>
        <p:blipFill>
          <a:blip r:embed="rId2"/>
          <a:srcRect l="8894" r="8894"/>
          <a:stretch>
            <a:fillRect/>
          </a:stretch>
        </p:blipFill>
        <p:spPr>
          <a:xfrm>
            <a:off x="658368" y="1371600"/>
            <a:ext cx="260604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아바타 수어 확인</a:t>
            </a:r>
          </a:p>
        </p:txBody>
      </p:sp>
      <p:pic>
        <p:nvPicPr>
          <p:cNvPr id="10" name="Picture 9" descr="05.jpg"/>
          <p:cNvPicPr>
            <a:picLocks noChangeAspect="1"/>
          </p:cNvPicPr>
          <p:nvPr/>
        </p:nvPicPr>
        <p:blipFill>
          <a:blip r:embed="rId3"/>
          <a:srcRect l="8894" r="8894"/>
          <a:stretch>
            <a:fillRect/>
          </a:stretch>
        </p:blipFill>
        <p:spPr>
          <a:xfrm>
            <a:off x="3447288" y="1371600"/>
            <a:ext cx="260604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4728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화면 조작 안내</a:t>
            </a:r>
          </a:p>
        </p:txBody>
      </p:sp>
      <p:pic>
        <p:nvPicPr>
          <p:cNvPr id="12" name="Picture 11" descr="07.jpg"/>
          <p:cNvPicPr>
            <a:picLocks noChangeAspect="1"/>
          </p:cNvPicPr>
          <p:nvPr/>
        </p:nvPicPr>
        <p:blipFill>
          <a:blip r:embed="rId4"/>
          <a:srcRect l="8894" r="8894"/>
          <a:stretch>
            <a:fillRect/>
          </a:stretch>
        </p:blipFill>
        <p:spPr>
          <a:xfrm>
            <a:off x="6236208" y="1371600"/>
            <a:ext cx="260604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6208" y="32461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에이전트 구조 설명</a:t>
            </a:r>
          </a:p>
        </p:txBody>
      </p:sp>
      <p:pic>
        <p:nvPicPr>
          <p:cNvPr id="14" name="Picture 13" descr="06.jpg"/>
          <p:cNvPicPr>
            <a:picLocks noChangeAspect="1"/>
          </p:cNvPicPr>
          <p:nvPr/>
        </p:nvPicPr>
        <p:blipFill>
          <a:blip r:embed="rId5"/>
          <a:srcRect l="10192" r="10192"/>
          <a:stretch>
            <a:fillRect/>
          </a:stretch>
        </p:blipFill>
        <p:spPr>
          <a:xfrm>
            <a:off x="9025128" y="1371600"/>
            <a:ext cx="2523744" cy="1783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25128" y="3246120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나눔스퀘어"/>
              </a:rPr>
              <a:t>기대효과 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현장에서 확인한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50208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950208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아바타를 보는 거리와 각도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6168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노트북 화면으로 보면 손이 작아진다. 화면 크기와 앉는 거리에 따라 읽히는 정도가 달라졌다.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950208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950208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연령대에 따른 수어 차이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6168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같은 뜻이라도 세대·지역에 따라 쓰는 동작이 다르다. 사전이 한 가지만 알면 못 알아본다.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29200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029200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480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‘눌러서 묻기’의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수어를 쓰지 않는 중도 실청 이용자도 있었다. 눌러서 묻는 경로가 실제로 필요했다.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5029200"/>
            <a:ext cx="5349240" cy="9601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5029200"/>
            <a:ext cx="41148" cy="9601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480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다음에 물어야 할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어순의 자연스러움과 표정의 부재를 어떻게 느끼는지 — 9월 정식 평가에서 측정한다.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9월 정식 당사자 평가로 이어집니다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계획대로 왔고, 계획에 없던 것도 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중간보고서의 5단계 계획 대비 진행 상황입니다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7월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데모 웹앱 · 아바타 리타게팅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규칙 기반 변환 MVP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2761488"/>
            <a:ext cx="1417320" cy="274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7713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3CBD4"/>
                </a:solidFill>
                <a:latin typeface="나눔스퀘어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9387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9387" y="1298448"/>
            <a:ext cx="2079345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0555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2단계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0555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8월 상순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0555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KOREN AI Cloud 구축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AI Hub 실데이터 수신 · ETL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70555" y="2761488"/>
            <a:ext cx="1417320" cy="274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0555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8732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3CBD4"/>
                </a:solidFill>
                <a:latin typeface="나눔스퀘어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406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80406" y="1298448"/>
            <a:ext cx="2079345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1574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3단계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1574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8월 중순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1574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번역·인식 모델 학습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브라우저 배포 · 양방향 왕복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1574" y="2761488"/>
            <a:ext cx="1417320" cy="2743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1574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완료 + 추가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3CBD4"/>
                </a:solidFill>
                <a:latin typeface="나눔스퀘어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1425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1425" y="1298448"/>
            <a:ext cx="2079345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2593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4단계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2593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8월 하순~9월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2593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연속 인식 · 일상어휘 편입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당사자 평가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2593" y="2761488"/>
            <a:ext cx="1417320" cy="2743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2593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일부 선행 달성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0771" y="2057400"/>
            <a:ext cx="131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3CBD4"/>
                </a:solidFill>
                <a:latin typeface="나눔스퀘어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2444" y="1298448"/>
            <a:ext cx="2079345" cy="1874519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2444" y="1298448"/>
            <a:ext cx="2079345" cy="45720"/>
          </a:xfrm>
          <a:prstGeom prst="rect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3612" y="14813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5단계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3612" y="1773936"/>
            <a:ext cx="171358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10월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3612" y="2084831"/>
            <a:ext cx="17135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KOREN 실회선 다지점 송출</a:t>
            </a:r>
          </a:p>
          <a:p>
            <a:pPr algn="l">
              <a:lnSpc>
                <a:spcPct val="128000"/>
              </a:lnSpc>
            </a:pPr>
            <a:r>
              <a:rPr sz="1019" b="0">
                <a:solidFill>
                  <a:srgbClr val="16181D"/>
                </a:solidFill>
                <a:latin typeface="나눔스퀘어"/>
              </a:rPr>
              <a:t>실증 · 현장 시연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03612" y="2761488"/>
            <a:ext cx="1417320" cy="274320"/>
          </a:xfrm>
          <a:prstGeom prst="rect">
            <a:avLst/>
          </a:prstGeom>
          <a:solidFill>
            <a:srgbClr val="A9B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3612" y="2798064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예정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3456432"/>
            <a:ext cx="5148072" cy="2852928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363931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7C8A"/>
                </a:solidFill>
                <a:latin typeface="나눔스퀘어"/>
              </a:rPr>
              <a:t>계획에 없던 것 — 3단계에서 더 했습니다</a:t>
            </a:r>
          </a:p>
        </p:txBody>
      </p:sp>
      <p:sp>
        <p:nvSpPr>
          <p:cNvPr id="49" name="Oval 48"/>
          <p:cNvSpPr/>
          <p:nvPr/>
        </p:nvSpPr>
        <p:spPr>
          <a:xfrm>
            <a:off x="932688" y="4133088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" y="405993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서비스워커 오프라인 동작 — 회선이 끊겨도 열린다</a:t>
            </a:r>
          </a:p>
        </p:txBody>
      </p:sp>
      <p:sp>
        <p:nvSpPr>
          <p:cNvPr id="51" name="Oval 50"/>
          <p:cNvSpPr/>
          <p:nvPr/>
        </p:nvSpPr>
        <p:spPr>
          <a:xfrm>
            <a:off x="932688" y="4553712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448056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창구 대화 화면 — 직원 음성 ↔ 농인의 답을 음성으로</a:t>
            </a:r>
          </a:p>
        </p:txBody>
      </p:sp>
      <p:sp>
        <p:nvSpPr>
          <p:cNvPr id="53" name="Oval 52"/>
          <p:cNvSpPr/>
          <p:nvPr/>
        </p:nvSpPr>
        <p:spPr>
          <a:xfrm>
            <a:off x="932688" y="4974336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568" y="4901184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재난별 행동요령 수어 · 긴급 SOS 전체화면</a:t>
            </a:r>
          </a:p>
        </p:txBody>
      </p:sp>
      <p:sp>
        <p:nvSpPr>
          <p:cNvPr id="55" name="Oval 54"/>
          <p:cNvSpPr/>
          <p:nvPr/>
        </p:nvSpPr>
        <p:spPr>
          <a:xfrm>
            <a:off x="932688" y="5394960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" y="532180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숫자 수어(수 읽기) · 표현 못 한 낱말은 낱말 카드로</a:t>
            </a:r>
          </a:p>
        </p:txBody>
      </p:sp>
      <p:sp>
        <p:nvSpPr>
          <p:cNvPr id="57" name="Oval 56"/>
          <p:cNvSpPr/>
          <p:nvPr/>
        </p:nvSpPr>
        <p:spPr>
          <a:xfrm>
            <a:off x="932688" y="581558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5742432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묻기 — 수어 질의응답과 타일 없는 방향 지도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456432"/>
            <a:ext cx="5148072" cy="285292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363931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어떻게 함께 일했나</a:t>
            </a:r>
          </a:p>
        </p:txBody>
      </p:sp>
      <p:sp>
        <p:nvSpPr>
          <p:cNvPr id="61" name="Oval 60"/>
          <p:cNvSpPr/>
          <p:nvPr/>
        </p:nvSpPr>
        <p:spPr>
          <a:xfrm>
            <a:off x="6675120" y="4114800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4041648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판단을 기록으로 남긴다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42976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기술 판단은 DECISIONS.md에 근거와 함께 적습니다. 왜 안 붙였는지까지 남깁니다.</a:t>
            </a:r>
          </a:p>
        </p:txBody>
      </p:sp>
      <p:sp>
        <p:nvSpPr>
          <p:cNvPr id="64" name="Oval 63"/>
          <p:cNvSpPr/>
          <p:nvPr/>
        </p:nvSpPr>
        <p:spPr>
          <a:xfrm>
            <a:off x="6675120" y="4690872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461772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수치는 사람이 아니라 스크립트가 낸다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48737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발표하는 숫자는 저장소의 측정 스크립트가 다시 계산합니다.</a:t>
            </a:r>
          </a:p>
        </p:txBody>
      </p:sp>
      <p:sp>
        <p:nvSpPr>
          <p:cNvPr id="67" name="Oval 66"/>
          <p:cNvSpPr/>
          <p:nvPr/>
        </p:nvSpPr>
        <p:spPr>
          <a:xfrm>
            <a:off x="6675120" y="5266944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5193792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바꿀 때마다 자동 검사를 돌린다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4498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폰·태블릿·키오스크 실조작까지 포함해 매 변경마다 실행합니다.</a:t>
            </a:r>
          </a:p>
        </p:txBody>
      </p:sp>
      <p:sp>
        <p:nvSpPr>
          <p:cNvPr id="70" name="Oval 69"/>
          <p:cNvSpPr/>
          <p:nvPr/>
        </p:nvSpPr>
        <p:spPr>
          <a:xfrm>
            <a:off x="6675120" y="5843016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576986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회의는 기록으로 남긴다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602589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B7280"/>
                </a:solidFill>
                <a:latin typeface="나눔스퀘어"/>
              </a:rPr>
              <a:t>킥오프 · 데이터 전략 · 중간평가 대비 — 회의록 3건.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심사항목 · 개발과정 적정성 30점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멘토 의견을 받아 설계를 바꿨습니다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들은 것과 바꾼 것을 하나씩 대응시켜 적었습니다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나눔스퀘어"/>
              </a:rPr>
              <a:t>언제 · 누구에게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70432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나눔스퀘어"/>
              </a:rPr>
              <a:t>받은 의견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170432"/>
            <a:ext cx="4645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나눔스퀘어"/>
              </a:rPr>
              <a:t>바꾼 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08176"/>
            <a:ext cx="10890504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481328"/>
            <a:ext cx="10890504" cy="87782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481328"/>
            <a:ext cx="41148" cy="87782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2763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7월 23일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0195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KOREN 자원 활용 미팅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664208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AI Cloud·HPC·VM을 어떻게 신청하고 쓰는지, 테스트베드는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과제 기간 중 반드시 활용할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자원별 역할을 갈랐습니다 — AI Cloud는 학습만, HPC는 CPU 전처리,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KOREN VM은 상시 데모. 하나로 다 하려던 계획을 접었습니다.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0592"/>
            <a:ext cx="10890504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450592"/>
            <a:ext cx="41148" cy="87782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59689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8월 5일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7121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HPC 이노베이션 허브 교육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33472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VM 구성, PBS Torque 스케줄러, 분산 작업 제출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633472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영상→랜드마크 변환을 HPC로 분리하는 분산 설계를 확정하고,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샤딩 옵션과 PBS 잡 스크립트를 저장소에 넣었습니다.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19856"/>
            <a:ext cx="10890504" cy="87782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19856"/>
            <a:ext cx="41148" cy="87782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6616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8월 7일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8404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KOREN AI Cloud 교육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602736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GPU 워크스페이스·볼륨 운영, MIG의 연산 특성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602736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볼륨 운영 원칙을 세우고(홈은 패키지 전용), MIG 연산 제약에 맞춰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영상 CNN 대신 랜드마크 트랜스포머 구조를 골랐습니다.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90504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389120"/>
            <a:ext cx="41148" cy="87782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3542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지도교수 멘토링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0974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컴퓨터공학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572000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평가 수치의 신뢰성을 확보할 것 — 실데이터 기반 검증,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실시간성과 경량화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72000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수어자 분리 평가를 표준으로 못박고, 학습에 없던 수어자 13명으로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이중 엄격 평가를 더했습니다(78.6%). 브라우저 단독 추론으로 경량화.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58384"/>
            <a:ext cx="10890504" cy="877824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358384"/>
            <a:ext cx="41148" cy="87782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0468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지도교수 멘토링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7900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사회복지학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541264"/>
            <a:ext cx="3794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농인의 한국어 문해력 편차를 고려할 것 — 텍스트 중심 화면을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6B7280"/>
                </a:solidFill>
                <a:latin typeface="나눔스퀘어"/>
              </a:rPr>
              <a:t>지양하고 실제 당사자 검증이 필요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541264"/>
            <a:ext cx="4599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한국어를 최소화한 당사자 전용 화면을 만들고, 복지관 두 곳에서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16181D"/>
                </a:solidFill>
                <a:latin typeface="나눔스퀘어"/>
              </a:rPr>
              <a:t>직접 시연·관찰했습니다(15–16쪽).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심사항목 · 개발과정 적정성(멘토링 반영) 10점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아직 안 되는 것 — 먼저 말합니다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숨기면 질문 한 번에 무너집니다. 무엇이 있으면 풀리는지까지 적었습니다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45720" cy="14173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1790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이어서 하는 수어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536192"/>
            <a:ext cx="1691640" cy="29260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5727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학습 완료 · 미적용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0195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연속 인식 모델(CTC)은 검증 오류율 0.218까지 학습을 마쳤습니다. 그런데 붙이지 않았습니다.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클래스가 8,147개라 배포본 13,576개와 집합이 달라, 교체하면 ‘화장실’이 사라집니다.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농인이 화장실을 물어도 영영 못 알아듣게 되는데 오류도 경고도 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44368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45720" cy="14173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90672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지문자 (이름·지명)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108960"/>
            <a:ext cx="1691640" cy="29260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145536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데이터 확보 · 학습 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이름과 지명에는 수어 단어가 없어 자모를 하나씩 씁니다. 지금은 낱말 카드로 정보 손실만 막았습니다.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‘공개 데이터가 없다’고 알았으나 실은 있었습니다 — 파일명 갈래가 문서와 달라 0건으로 걸렸습니다.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클립 17,000개 · 지명 1,015종 · 자모 37종을 확인했고, 키포인트만 받으면 학습할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17136"/>
            <a:ext cx="10881360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517136"/>
            <a:ext cx="45720" cy="1417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표정 (비수지 신호)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681727"/>
            <a:ext cx="1691640" cy="2926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4718303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나눔스퀘어"/>
              </a:rPr>
              <a:t>지어내지 않기로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수어에서 표정은 문법입니다. 판정 의문문과 설명 의문문은 눈썹 방향이 반대입니다.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원본에 8채널이 시간 구간까지 있지만 ‘어떻게 움직였는지’는 마우징을 빼면 비어 있습니다.</a:t>
            </a: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16181D"/>
                </a:solidFill>
                <a:latin typeface="나눔스퀘어"/>
              </a:rPr>
              <a:t>뜻이 분명한 고개 끄덕임·흔들기와 마우징만 쓰고, 눈썹 방향은 규칙으로 지어내지 않습니다.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모두 재어 보고 내린 판단입니다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중간평가 이후 최종까지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3520440" cy="38404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3520440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1691640"/>
            <a:ext cx="1188720" cy="32918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9월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농인 당사자 평가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2752344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67004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농아인협회·복지관 정식 평가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" y="3319272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23697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자연스러움·전달률 측정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" y="3886200"/>
            <a:ext cx="64008" cy="640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80390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연속 수어 표본 수집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1417320"/>
            <a:ext cx="3520440" cy="38404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1" y="1417320"/>
            <a:ext cx="3520440" cy="45720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9431" y="1691640"/>
            <a:ext cx="1188720" cy="32918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1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9~10월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인식 확장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1" y="2752344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267004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연속 수어 모델 병행 적용 판단</a:t>
            </a:r>
          </a:p>
        </p:txBody>
      </p:sp>
      <p:sp>
        <p:nvSpPr>
          <p:cNvPr id="26" name="Oval 25"/>
          <p:cNvSpPr/>
          <p:nvPr/>
        </p:nvSpPr>
        <p:spPr>
          <a:xfrm>
            <a:off x="4599431" y="3319272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23697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지문자 자모 CTC 학습</a:t>
            </a:r>
          </a:p>
        </p:txBody>
      </p:sp>
      <p:sp>
        <p:nvSpPr>
          <p:cNvPr id="28" name="Oval 27"/>
          <p:cNvSpPr/>
          <p:nvPr/>
        </p:nvSpPr>
        <p:spPr>
          <a:xfrm>
            <a:off x="4599431" y="3886200"/>
            <a:ext cx="64008" cy="64008"/>
          </a:xfrm>
          <a:prstGeom prst="ellipse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380390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고개 동작·마우징 반영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1417320"/>
            <a:ext cx="3520440" cy="384048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1417320"/>
            <a:ext cx="3520440" cy="45720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11896" y="1691640"/>
            <a:ext cx="1188720" cy="329184"/>
          </a:xfrm>
          <a:prstGeom prst="rect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17373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나눔스퀘어"/>
              </a:rPr>
              <a:t>10월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17627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81D"/>
                </a:solidFill>
                <a:latin typeface="나눔스퀘어"/>
              </a:rPr>
              <a:t>데이터 공식화</a:t>
            </a:r>
          </a:p>
        </p:txBody>
      </p:sp>
      <p:sp>
        <p:nvSpPr>
          <p:cNvPr id="35" name="Oval 34"/>
          <p:cNvSpPr/>
          <p:nvPr/>
        </p:nvSpPr>
        <p:spPr>
          <a:xfrm>
            <a:off x="8311896" y="2752344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267004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행정안전부 공식 대피소 목록</a:t>
            </a:r>
          </a:p>
        </p:txBody>
      </p:sp>
      <p:sp>
        <p:nvSpPr>
          <p:cNvPr id="37" name="Oval 36"/>
          <p:cNvSpPr/>
          <p:nvPr/>
        </p:nvSpPr>
        <p:spPr>
          <a:xfrm>
            <a:off x="8311896" y="3319272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6" y="323697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행정구역 이름표로 오역 제거</a:t>
            </a:r>
          </a:p>
        </p:txBody>
      </p:sp>
      <p:sp>
        <p:nvSpPr>
          <p:cNvPr id="39" name="Oval 38"/>
          <p:cNvSpPr/>
          <p:nvPr/>
        </p:nvSpPr>
        <p:spPr>
          <a:xfrm>
            <a:off x="8311896" y="3886200"/>
            <a:ext cx="64008" cy="64008"/>
          </a:xfrm>
          <a:prstGeom prst="ellipse">
            <a:avLst/>
          </a:prstGeom>
          <a:solidFill>
            <a:srgbClr val="2C7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6" y="380390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6181D"/>
                </a:solidFill>
                <a:latin typeface="나눔스퀘어"/>
              </a:rPr>
              <a:t>고정 주소 배포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504688"/>
            <a:ext cx="10881360" cy="777240"/>
          </a:xfrm>
          <a:prstGeom prst="rect">
            <a:avLst/>
          </a:prstGeom>
          <a:solidFill>
            <a:srgbClr val="EC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669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나눔스퀘어"/>
              </a:rPr>
              <a:t>우선순위는 ‘정확도’가 아니라 ‘틀렸을 때의 피해’로 정합니다. 잘못된 수어는 표현되지 않은 것보다 나쁩니다 — 농인은 그것을 믿기 때문입니다.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6181D"/>
                </a:solidFill>
                <a:latin typeface="나눔스퀘어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나눔스퀘어"/>
              </a:rPr>
              <a:t>재난 상황의 정보 접근권을 기술로 메웁니다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나눔스퀘어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eb_기대효과.png"/>
          <p:cNvPicPr>
            <a:picLocks noChangeAspect="1"/>
          </p:cNvPicPr>
          <p:nvPr/>
        </p:nvPicPr>
        <p:blipFill>
          <a:blip r:embed="rId2"/>
          <a:srcRect t="19333" b="19333"/>
          <a:stretch>
            <a:fillRect/>
          </a:stretch>
        </p:blipFill>
        <p:spPr>
          <a:xfrm>
            <a:off x="658368" y="1371600"/>
            <a:ext cx="5486400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371600"/>
            <a:ext cx="5486400" cy="210312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75887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나눔스퀘어"/>
              </a:rPr>
              <a:t>구현 난이도 — 무엇이 어려웠나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41648"/>
            <a:ext cx="41148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학습과 추론이 같은 특징을 봐야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어긋나면 검증 95%가 웹캠에선 0%가 됩니다. 현재 오차 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00016"/>
            <a:ext cx="41148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연산이 부족한 GPU 안에서 13,576클래스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5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MIG는 H200의 약 29% 연산입니다. 영상 CNN을 포기하고 2.8M 랜드마크 트랜스포머로 풀었습니다.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58383"/>
            <a:ext cx="41148" cy="56692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0096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81D"/>
                </a:solidFill>
                <a:latin typeface="나눔스퀘어"/>
              </a:rPr>
              <a:t>서버 없이 브라우저 안에서 전부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7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번역 30MB · 인식 20MB를 int8로 줄여 넣고, 통신이 끊겨도 그대로 돕니다.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17320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1527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즉시성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통역사 배치를 기다리지 않는다. 문자가 오는 즉시 수어로 바뀐다.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13432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4231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동시성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7249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전국에서 동시에 일어나도 사람 수에 제약받지 않는다.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209544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3192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가용성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6210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통신이 끊긴 재난 현장에서도 기기 안에서 동작한다.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105656"/>
            <a:ext cx="5102352" cy="76809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2153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7C8A"/>
                </a:solidFill>
                <a:latin typeface="나눔스퀘어"/>
              </a:rPr>
              <a:t>양방향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45171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6B7280"/>
                </a:solidFill>
                <a:latin typeface="나눔스퀘어"/>
              </a:rPr>
              <a:t>농인이 정보를 받기만 하는 것이 아니라 되물을 수 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074920"/>
            <a:ext cx="5102352" cy="1207008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5266944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EA5B7"/>
                </a:solidFill>
                <a:latin typeface="나눔스퀘어"/>
              </a:rPr>
              <a:t>확장 가능성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나눔스퀘어"/>
              </a:rPr>
              <a:t>같은 구조로 병원·주민센터 창구, 공공 키오스크, 교육 현장에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나눔스퀘어"/>
              </a:rPr>
              <a:t>적용할 수 있습니다. 서버가 필요 없어 기관마다 별도 인프라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나눔스퀘어"/>
              </a:rPr>
              <a:t>없이 배포됩니다.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닿다 · SignBridge — 한국수어 양방향 번역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나눔스퀘어"/>
              </a:rPr>
              <a:t>심사항목 · 기대효과(구현 난이도 포함) 20점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나눔스퀘어"/>
              </a:rPr>
              <a:t>한쪽만 되면 방송이고,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0EA5B7"/>
                </a:solidFill>
                <a:latin typeface="나눔스퀘어"/>
              </a:rPr>
              <a:t>양쪽이 되어야 대화입니다.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977639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78.6%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처음 보는 수어자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27.1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번역 BLEU-4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12,833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실제 수어자 동작 사전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B7"/>
                </a:solidFill>
                <a:latin typeface="나눔스퀘어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나눔스퀘어"/>
              </a:rPr>
              <a:t>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5DDE5"/>
                </a:solidFill>
                <a:latin typeface="나눔스퀘어"/>
              </a:rPr>
              <a:t>감사합니다.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60533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7A88"/>
                </a:solidFill>
                <a:latin typeface="나눔스퀘어"/>
              </a:rPr>
              <a:t>닿다 · KOREN 저지연망 기반 재난정보 실시간 AI 수어(KSL) 통역·송출 서비스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
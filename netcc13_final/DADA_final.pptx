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/>
  <p:notesSz cx="6858000" cy="9144000"/>
  <p:embeddedFontLst>
    <p:embeddedFont>
      <p:font typeface="Pretendard" pitchFamily="2" charset="-127"/>
      <p:regular r:id="rIdFont1"/>
      <p:bold r:id="rId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813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K-디지털 챌린지 · 넷 챌린지 캠프 시즌 13 · 최종평가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spc="-32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들리지 않아도,</a:t>
            </a:r>
          </a:p>
          <a:p>
            <a:pPr algn="l">
              <a:lnSpc>
                <a:spcPct val="112000"/>
              </a:lnSpc>
            </a:pPr>
            <a:r>
              <a:rPr sz="48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닿습니다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22191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spc="-18">
                <a:solidFill>
                  <a:srgbClr val="DAE2EA"/>
                </a:solidFill>
                <a:latin typeface="Pretendard"/>
                <a:ea typeface="Pretendard"/>
                <a:cs typeface="Pretendard"/>
              </a:rPr>
              <a:t>SignBridge — KOREN 기반 재난정보 한국수어(KSL) 양방향 AI 통역 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61104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0AE"/>
                </a:solidFill>
                <a:latin typeface="Pretendard"/>
                <a:ea typeface="Pretendard"/>
                <a:cs typeface="Pretendard"/>
              </a:rPr>
              <a:t>받기(재난문자 → 수어)  ·  묻기(수어 → 한국어·음성·길 안내)  ·  통신이 끊겨도 동작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983480"/>
            <a:ext cx="2926080" cy="3200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2120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 닿다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55955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0AE"/>
                </a:solidFill>
                <a:latin typeface="Pretendard"/>
                <a:ea typeface="Pretendard"/>
                <a:cs typeface="Pretendard"/>
              </a:rPr>
              <a:t>김주형(팀장) · 류다영  |  영남대학교 컴퓨터공학과</a:t>
            </a:r>
          </a:p>
        </p:txBody>
      </p:sp>
      <p:pic>
        <p:nvPicPr>
          <p:cNvPr id="11" name="Picture 10" descr="06.jpg"/>
          <p:cNvPicPr>
            <a:picLocks noChangeAspect="1"/>
          </p:cNvPicPr>
          <p:nvPr/>
        </p:nvPicPr>
        <p:blipFill>
          <a:blip r:embed="rId2"/>
          <a:srcRect l="18421" r="18421"/>
          <a:stretch>
            <a:fillRect/>
          </a:stretch>
        </p:blipFill>
        <p:spPr>
          <a:xfrm>
            <a:off x="8732520" y="685800"/>
            <a:ext cx="2926080" cy="2606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32520" y="3383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pic>
        <p:nvPicPr>
          <p:cNvPr id="13" name="Picture 12" descr="01.jpg"/>
          <p:cNvPicPr>
            <a:picLocks noChangeAspect="1"/>
          </p:cNvPicPr>
          <p:nvPr/>
        </p:nvPicPr>
        <p:blipFill>
          <a:blip r:embed="rId3"/>
          <a:srcRect l="18421" r="18421"/>
          <a:stretch>
            <a:fillRect/>
          </a:stretch>
        </p:blipFill>
        <p:spPr>
          <a:xfrm>
            <a:off x="8732520" y="3474720"/>
            <a:ext cx="2926080" cy="2606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32520" y="6172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6172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0AE"/>
                </a:solidFill>
                <a:latin typeface="Pretendard"/>
                <a:ea typeface="Pretendard"/>
                <a:cs typeface="Pretendard"/>
              </a:rPr>
              <a:t>복지관 파일럿 시연 현장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최종결과보고서 목차 그대로 — 각 장 아래에 해당 심사항목을 적었습니다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2633472" cy="32461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2633472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727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12848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spc="-18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서론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578608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필요성·독창성 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2907792"/>
            <a:ext cx="50292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054096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· 개발 목적 및 필요성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419856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· 동일·유사 아이디어 대비 차별성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1371600"/>
            <a:ext cx="2633472" cy="32461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46704" y="1371600"/>
            <a:ext cx="2633472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15727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2212848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spc="-18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추진 내용과 범위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2578608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개발구현 30 · KOREN 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75304" y="2907792"/>
            <a:ext cx="50292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3054096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· 개발 목표 · 4개 에이전트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3419856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· KOREN 3계층 설계 · 송출 시퀀스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3785615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· 역할 분담 · 단계별 일정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371600"/>
            <a:ext cx="2633472" cy="32461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371600"/>
            <a:ext cx="2633472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5727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212848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spc="-18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진행 내용 및 결과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578608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개발구현 30 · KOREN 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907792"/>
            <a:ext cx="50292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054096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· 최종 결과물(화면·구현 난이도·모델)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419856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· KOREN 활용 결과 · 대역폭 분석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785615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· 멘토 의견 반영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51376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· 시험·검증(정량 10 · 정성)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06256" y="1371600"/>
            <a:ext cx="2633472" cy="32461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06256" y="1371600"/>
            <a:ext cx="2633472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34856" y="15727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4856" y="2212848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spc="-18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4856" y="2578608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완성도 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34856" y="2907792"/>
            <a:ext cx="502920" cy="20116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34856" y="3054096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· 최종 결과물과 다음 단계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856" y="3419856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· 앱 5종 · 논문 완료 · 스마트 글래스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785615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· 상용화 추가 개발 8항목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856" y="4151376"/>
            <a:ext cx="22677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· 기대 효과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919472"/>
            <a:ext cx="11055096" cy="1188720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4919472"/>
            <a:ext cx="50292" cy="1188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" y="51206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오늘 드릴 말씀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E3E9EF"/>
                </a:solidFill>
                <a:latin typeface="Pretendard"/>
                <a:ea typeface="Pretendard"/>
                <a:cs typeface="Pretendard"/>
              </a:rPr>
              <a:t>한쪽만 되면 방송이고, 양쪽이 되어야 대화입니다. 받는 방향과 묻는 방향을 모두 만들었고,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E3E9EF"/>
                </a:solidFill>
                <a:latin typeface="Pretendard"/>
                <a:ea typeface="Pretendard"/>
                <a:cs typeface="Pretendard"/>
              </a:rPr>
              <a:t>KOREN에서 학습해 통신이 끊긴 기기 안에서 돌아가게 했으며, 복지관 두 곳에서 당사자에게 확인했습니다.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Ⅰ. 재난 정보는 농인에게 도착하지 않습니다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개발 목적 및 필요성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25880"/>
            <a:ext cx="2633472" cy="30632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25880"/>
            <a:ext cx="2633472" cy="4572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544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spc="-32">
                <a:solidFill>
                  <a:srgbClr val="D97B1A"/>
                </a:solidFill>
                <a:latin typeface="Pretendard"/>
                <a:ea typeface="Pretendard"/>
                <a:cs typeface="Pretendard"/>
              </a:rPr>
              <a:t>약 44만 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945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18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언어가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06040"/>
            <a:ext cx="2240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등록 청각장애인 약 44만 명(보건복지부, 2024). 한국수어는 어순·문법이 다른 독립 언어 — 한국어로만 오는 재난문자는 '외국어로 온 경고문'입니다.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6704" y="1325880"/>
            <a:ext cx="2633472" cy="30632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6704" y="1325880"/>
            <a:ext cx="2633472" cy="4572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15544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spc="-32">
                <a:solidFill>
                  <a:srgbClr val="D97B1A"/>
                </a:solidFill>
                <a:latin typeface="Pretendard"/>
                <a:ea typeface="Pretendard"/>
                <a:cs typeface="Pretendard"/>
              </a:rP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21945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18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통역이 없다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2606040"/>
            <a:ext cx="2240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방송 수어통역 의무편성은 자막(100%)의 5% 수준. 심야·동시다발 재난에 사람 통역사 배치로는 감당할 수 없습니다.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325880"/>
            <a:ext cx="2633472" cy="30632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325880"/>
            <a:ext cx="2633472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5544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단방향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945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18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되물을 수 없다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606040"/>
            <a:ext cx="2240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기존 수어 서비스는 '보여 주기'에 집중. "가까운 대피소가 어디냐"를 되물을 수단이 없었습니다.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6256" y="1325880"/>
            <a:ext cx="2633472" cy="30632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06256" y="1325880"/>
            <a:ext cx="2633472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4856" y="15544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오프라인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21945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18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통신이 먼저 끊긴다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6" y="2606040"/>
            <a:ext cx="2240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재난 때가 곧 오프라인. 서버 의존 번역은 가장 필요한 순간에 멈춥니다.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64515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그래서 이 과제의 목적은 세 가지입니다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047488"/>
            <a:ext cx="3584448" cy="868680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138928"/>
            <a:ext cx="3200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3E9EF"/>
                </a:solidFill>
                <a:latin typeface="Pretendard"/>
                <a:ea typeface="Pretendard"/>
                <a:cs typeface="Pretendard"/>
              </a:rPr>
              <a:t>1. 재난 정보를 즉시 한국수어 아바타로 전달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9392" y="5047488"/>
            <a:ext cx="3584448" cy="868680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5138928"/>
            <a:ext cx="3200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3E9EF"/>
                </a:solidFill>
                <a:latin typeface="Pretendard"/>
                <a:ea typeface="Pretendard"/>
                <a:cs typeface="Pretendard"/>
              </a:rPr>
              <a:t>2. 농인의 수어 질문을 인식해 한국어·음성·위치 기반 답으로 되돌림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1855" y="5047488"/>
            <a:ext cx="3584448" cy="868680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0455" y="5138928"/>
            <a:ext cx="3200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3E9EF"/>
                </a:solidFill>
                <a:latin typeface="Pretendard"/>
                <a:ea typeface="Pretendard"/>
                <a:cs typeface="Pretendard"/>
              </a:rPr>
              <a:t>3. KOREN 연구망 자원으로 학습하고, 통신이 끊겨도 기기 안에서 동작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필요성·독창성 25점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Ⅰ. 기존 방식과 무엇이 다른가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동일·유사 아이디어 대비 차별성 (보고서 표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61872"/>
          <a:ext cx="11055094" cy="3200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7737"/>
                <a:gridCol w="3106390"/>
                <a:gridCol w="6760967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기존 방식·유사 서비스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SignBridge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전달 방향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수어로 보여 주기(단방향)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받기 + 묻기(양방향) — 수어 질문 → 의도 판정 → 수어·지도로 답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사람이 만든 애니메이션, 소수 정형 문장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Hub 실제 농인 수어자 키포인트 12,833종 동작 사전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동작 환경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서버·방송망 의존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브라우저 단독 추론, 비행기 모드에서도 동작(PWA)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번역 범위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정형 문장(일기예보 등) 위주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재난문자·행동요령·창구 대화·일상회화·길찾기 5개 영역 실측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 확인 위주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오역 회귀 156건·재생 확인 2,388개 등 자동 검사로 '조용한 실패'를 잡음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개인정보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영상 업로드 필요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영상은 기기 밖으로 나가지 않음(관절 좌표만 처리)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709160"/>
            <a:ext cx="2633472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709160"/>
            <a:ext cx="263347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846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1. 양방향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175504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같은 155차원 특징 정의로 학습·추론을 묶어 농인이 '묻는 쪽'이 되는 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6704" y="4709160"/>
            <a:ext cx="2633472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6704" y="4709160"/>
            <a:ext cx="263347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4846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2. 오프라인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5175504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인식 20MB · 번역 30MB · 동작 사전 · 전국 장소를 기기에 저장, 타일 없는 SVG 지도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709160"/>
            <a:ext cx="2633472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709160"/>
            <a:ext cx="263347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4846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3. 틀렸을 때의 피해로 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5175504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행동요령은 학습 모델 대신 검증된 사전 경로 — 부정어·방위어 오역을 회귀 검사로 차단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6256" y="4709160"/>
            <a:ext cx="2633472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6256" y="4709160"/>
            <a:ext cx="263347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7424" y="4846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4. 부족한 GPU에 맞춘 설계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5175504"/>
            <a:ext cx="22677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H200 MIG(연산 약 29%)에서 6.3M 랜드마크 트랜스포머로 13,576종 — 영상의 약 1/2,000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필요성·독창성 25점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Ⅱ. 4개 에이전트가 양방향을 처리합니다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개발 목표 · 그림 1 양방향 처리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idir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36" y="1188720"/>
            <a:ext cx="8775478" cy="324612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66928" y="4727448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663440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실데이터 기반 수어 낱말 인식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937759"/>
            <a:ext cx="5257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수어자 분리 평가 — 처음 보는 수어자에게도 일반화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5399532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5335524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한국어→수어: 재난문자는 학습 모델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5609844"/>
            <a:ext cx="5257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그 밖의 영역은 통계 사전·규칙으로 오역 최소화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4727448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66344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당사자 화면 + 오프라인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937759"/>
            <a:ext cx="5074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받기·묻기·대화·사전, 키오스크 — 통신 없이 인식·번역·길 안내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5399532"/>
            <a:ext cx="68580" cy="68580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533552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KOREN 자원 활용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609844"/>
            <a:ext cx="5074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 Cloud 학습 · HPC 전처리 설계 · KOREN VM 상시 서버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개발구현 30점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Ⅱ. 무거운 것은 연구망 안에, 가벼운 것만 밖으로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KOREN 활용 네트워크 구성도 — Core · Edge · 단말 3계층 설계 (그림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oren_networ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1657"/>
            <a:ext cx="6766560" cy="41837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188720"/>
            <a:ext cx="4123944" cy="96926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188720"/>
            <a:ext cx="45720" cy="96926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30759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1. 무거운 것은 Core에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609344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원본 133GB 수신·ETL·학습·평가는 KOREN Core(AI Cloud·HPC) 안에서만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267712"/>
            <a:ext cx="4123944" cy="96926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2267712"/>
            <a:ext cx="45720" cy="96926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38658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2. 가벼운 것만 망으로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688336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밖으로 나가는 것은 모델(20MB·30MB)과 수어 패키지(약 2.4KB/문장)뿐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3346704"/>
            <a:ext cx="4123944" cy="96926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3346704"/>
            <a:ext cx="45720" cy="96926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346557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3. 재난 지역 가까이에서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767328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지역 노드 8곳을 Edge로 — 재난 지역 노드로만 푸시, 노드별 병렬 송출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4425696"/>
            <a:ext cx="4123944" cy="96926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4425696"/>
            <a:ext cx="45720" cy="96926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454456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4. 끊겨도 동작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4846320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단말은 모델·사전·전국 장소를 저장, 망 단절 시 혼자 인식·번역·길 안내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577840"/>
            <a:ext cx="11055096" cy="676656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5577840"/>
            <a:ext cx="45720" cy="676656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669280"/>
            <a:ext cx="10607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시험 범위 — 학습·평가: KOREN AI Cloud 실수행  ·  3계층 송출: 설계 완료·이론값 산정(멘토 권고에 따라 명시)  ·  서비스 시험: 상용 인터넷망과 오프라인 로컬 환경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KOREN 활용도 20점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Ⅱ. 재난 한 건이 발령되면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재난 발령 → 수어 표출 송출 시퀀스(설계, 그림 3) · KOREN 망·자원 배치(표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61872"/>
            <a:ext cx="1033271" cy="23317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61872"/>
            <a:ext cx="1033271" cy="38404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307592"/>
            <a:ext cx="10332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92354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재난문자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수신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24028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spc="-18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46503" y="1261872"/>
            <a:ext cx="1033271" cy="23317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46503" y="1261872"/>
            <a:ext cx="1033271" cy="384048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46503" y="1307592"/>
            <a:ext cx="10332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7" y="1810512"/>
            <a:ext cx="92354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KOREN VM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종류·지역 판단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수어 패키지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2344" y="224028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spc="-18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79" y="1261872"/>
            <a:ext cx="1033271" cy="23317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79" y="1261872"/>
            <a:ext cx="1033271" cy="384048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79" y="1307592"/>
            <a:ext cx="10332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백본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0944" y="1810512"/>
            <a:ext cx="92354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KOREN 망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해당 지역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노드로만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24028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spc="-18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05655" y="1261872"/>
            <a:ext cx="1033271" cy="23317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05655" y="1261872"/>
            <a:ext cx="1033271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05655" y="1307592"/>
            <a:ext cx="10332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19" y="1810512"/>
            <a:ext cx="92354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지역 노드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캐시·송출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1495" y="224028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spc="-18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85231" y="1261872"/>
            <a:ext cx="1033271" cy="23317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5231" y="1261872"/>
            <a:ext cx="1033271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85231" y="1307592"/>
            <a:ext cx="10332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0095" y="1810512"/>
            <a:ext cx="92354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아바타 재생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되묻기 판정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749039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패키지는 문장당 약 2.4KB — 영상이 아니라 동작 좌표만 보냅니다 (설계, 그림 3)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537960" y="1188720"/>
          <a:ext cx="5084062" cy="30723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11616"/>
                <a:gridCol w="1299685"/>
                <a:gridCol w="2293562"/>
                <a:gridCol w="879199"/>
              </a:tblGrid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계층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KOREN 자원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맡는 일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Core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Cloud (H200 MIG)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원본 수신 · ETL · 학습 · 평가 · ONNX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Core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HPC 이노베이션 허브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영상 → 관절 좌표 분산 변환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잡 스크립트 구현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Core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KOREN VM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웹앱·모델·동작 사전 원천 배포, 재난문자 → 수어 변환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상시 운영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Edge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지역 노드 8곳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수어 패키지 캐시 · 동작 사전 미러 · 지역 송출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확장 설계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단말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폰·태블릿·키오스크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기기 안 인식·번역·길 안내 · 오프라인 폴백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구현·검증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Oval 33"/>
          <p:cNvSpPr/>
          <p:nvPr/>
        </p:nvSpPr>
        <p:spPr>
          <a:xfrm>
            <a:off x="566928" y="4608575"/>
            <a:ext cx="292608" cy="2926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645151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4636007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KOREN VM이 재난문자 수신 → 종류·지역 판단 → 수어 패키지 생성</a:t>
            </a:r>
          </a:p>
        </p:txBody>
      </p:sp>
      <p:sp>
        <p:nvSpPr>
          <p:cNvPr id="37" name="Oval 36"/>
          <p:cNvSpPr/>
          <p:nvPr/>
        </p:nvSpPr>
        <p:spPr>
          <a:xfrm>
            <a:off x="566928" y="4992623"/>
            <a:ext cx="292608" cy="2926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5029199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5020055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KOREN 백본으로 해당 지역 노드에만 전송 (전국 동시 발령은 노드별 병렬)</a:t>
            </a:r>
          </a:p>
        </p:txBody>
      </p:sp>
      <p:sp>
        <p:nvSpPr>
          <p:cNvPr id="40" name="Oval 39"/>
          <p:cNvSpPr/>
          <p:nvPr/>
        </p:nvSpPr>
        <p:spPr>
          <a:xfrm>
            <a:off x="566928" y="5376671"/>
            <a:ext cx="292608" cy="2926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413247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5404103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노드 → 가까운 단말, 단말은 저장된 동작 사전으로 아바타 수어 재생</a:t>
            </a:r>
          </a:p>
        </p:txBody>
      </p:sp>
      <p:sp>
        <p:nvSpPr>
          <p:cNvPr id="43" name="Oval 42"/>
          <p:cNvSpPr/>
          <p:nvPr/>
        </p:nvSpPr>
        <p:spPr>
          <a:xfrm>
            <a:off x="566928" y="5760719"/>
            <a:ext cx="292608" cy="29260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5797295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" y="5788151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농인이 되물으면 의도 판정·위치 기반 답은 단말에서 — 최신 대피소 정보만 Edge→Core 조회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KOREN 활용도 20점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Ⅱ. 역할 분담과 단계별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참여구성원의 역할(표 4) · 단계별 세부 구현 계획과 진행 결과(표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07008"/>
            <a:ext cx="4572000" cy="23317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07008"/>
            <a:ext cx="45720" cy="2331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716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spc="-18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김주형 (팀장)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7393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과제 총괄 · AI 모델 · KOREN 인프라 · 앱 핵심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04288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KOREN AI Cloud·HPC·VM 구축·운영, AI Hub 133GB 수신·ETL, 모델 4종 설계·학습·경량화, 브라우저 추론·아바타 리타게팅, 현장 시연 진행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694176"/>
            <a:ext cx="4572000" cy="23317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694176"/>
            <a:ext cx="45720" cy="2331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85876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spc="-18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류다영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26110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서비스 기획 · 당사자 화면(UX) · 품질 검수 · 대외 협력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791456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화면 4종·키오스크 흐름 기획, 복지관 섭외·현장 시연·당사자 평가 진행, 오역 회귀 156건 구축 지원, 보고서·발표·시연 영상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349240" y="1207008"/>
          <a:ext cx="6272783" cy="48280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86801"/>
                <a:gridCol w="1053095"/>
                <a:gridCol w="2609844"/>
                <a:gridCol w="1923043"/>
              </a:tblGrid>
              <a:tr h="8046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계획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1단계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7월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데모 웹앱 · 아바타 리타게팅 · 규칙 변환 MVP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2단계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8월 상순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KOREN AI Cloud 구축 · AI Hub 수신 · ETL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완료(133GB · 40만 클립)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3단계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8월 중순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번역·인식 학습 · 브라우저 배포 · 양방향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 + 계획 외 추가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(오프라인·창구 대화·묻기)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4단계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8월 하순~9월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연속 인식 · 일상어휘 · 당사자 평가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CTC 학습 완료(적용 보류)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당사자 평가 실시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5단계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10월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KOREN 상시 서버 · 현장 시연 준비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KOREN VM 상시 운영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개발구현 30점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Ⅲ. 최종 결과물 — 당사자 화면 4종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받기 · 묻기 · 대화 · 사전 (그림 5) — 키오스크 모드 · PWA 오프라인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_받기.png"/>
          <p:cNvPicPr>
            <a:picLocks noChangeAspect="1"/>
          </p:cNvPicPr>
          <p:nvPr/>
        </p:nvPicPr>
        <p:blipFill>
          <a:blip r:embed="rId2"/>
          <a:srcRect t="15162" b="15162"/>
          <a:stretch>
            <a:fillRect/>
          </a:stretch>
        </p:blipFill>
        <p:spPr>
          <a:xfrm>
            <a:off x="566928" y="1207008"/>
            <a:ext cx="2633472" cy="3931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1207008"/>
            <a:ext cx="2633472" cy="393192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248656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받기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59552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재난문자 → 아바타 수어</a:t>
            </a:r>
          </a:p>
        </p:txBody>
      </p:sp>
      <p:pic>
        <p:nvPicPr>
          <p:cNvPr id="12" name="Picture 11" descr="app_묻기답.png"/>
          <p:cNvPicPr>
            <a:picLocks noChangeAspect="1"/>
          </p:cNvPicPr>
          <p:nvPr/>
        </p:nvPicPr>
        <p:blipFill>
          <a:blip r:embed="rId3"/>
          <a:srcRect t="15162" b="15162"/>
          <a:stretch>
            <a:fillRect/>
          </a:stretch>
        </p:blipFill>
        <p:spPr>
          <a:xfrm>
            <a:off x="3346704" y="1207008"/>
            <a:ext cx="2633472" cy="3931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346704" y="1207008"/>
            <a:ext cx="2633472" cy="393192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4" y="5248656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묻기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5559552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수어로 묻고 방향·거리·지도로 답</a:t>
            </a:r>
          </a:p>
        </p:txBody>
      </p:sp>
      <p:pic>
        <p:nvPicPr>
          <p:cNvPr id="16" name="Picture 15" descr="app_대화.png"/>
          <p:cNvPicPr>
            <a:picLocks noChangeAspect="1"/>
          </p:cNvPicPr>
          <p:nvPr/>
        </p:nvPicPr>
        <p:blipFill>
          <a:blip r:embed="rId4"/>
          <a:srcRect t="15162" b="15162"/>
          <a:stretch>
            <a:fillRect/>
          </a:stretch>
        </p:blipFill>
        <p:spPr>
          <a:xfrm>
            <a:off x="6126480" y="1207008"/>
            <a:ext cx="2633472" cy="39319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26480" y="1207008"/>
            <a:ext cx="2633472" cy="393192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248656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대화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559552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직원 음성 → 자막+수어, 농인 답 → 음성</a:t>
            </a:r>
          </a:p>
        </p:txBody>
      </p:sp>
      <p:pic>
        <p:nvPicPr>
          <p:cNvPr id="20" name="Picture 19" descr="app_사전.png"/>
          <p:cNvPicPr>
            <a:picLocks noChangeAspect="1"/>
          </p:cNvPicPr>
          <p:nvPr/>
        </p:nvPicPr>
        <p:blipFill>
          <a:blip r:embed="rId5"/>
          <a:srcRect t="15162" b="15162"/>
          <a:stretch>
            <a:fillRect/>
          </a:stretch>
        </p:blipFill>
        <p:spPr>
          <a:xfrm>
            <a:off x="8906256" y="1207008"/>
            <a:ext cx="2633472" cy="393192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906256" y="1207008"/>
            <a:ext cx="2633472" cy="393192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06256" y="5248656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사전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5559552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낱말 검색 · 동작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989320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공개 주소 biocode67.github.io/signbridge  ·  KOREN VM 상시 데모 서버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개발구현 30점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Ⅲ. 구현 난이도 — 어려웠던 문제와 푼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개발 수행 현황 · 하드웨어/소프트웨어 부분 (보고서 Ⅲ-1) — 새 장비 없이 이미 보급된 기기에서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07008"/>
            <a:ext cx="3584448" cy="173736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07008"/>
            <a:ext cx="3584448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37160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손 깊이 복원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7373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웹 사전이 버리던 손의 z 좌표를 원본에서 되살림(수록률 96%)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35000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손가락 뼈 길이 변동 22%↓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(0.182 → 0.142)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207008"/>
            <a:ext cx="3584448" cy="173736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207008"/>
            <a:ext cx="3584448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37160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학습 특징 = 추론 특징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17373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파이썬 학습 코드와 브라우저 추론 코드의 155차원 특징을 직접 대조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35000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오차 0 유지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'검증 95%인데 웹캠 0%' 차단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1855" y="1207008"/>
            <a:ext cx="3584448" cy="173736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5" y="1207008"/>
            <a:ext cx="3584448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3" y="137160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3단 폴백 번역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3" y="17373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학습 모델은 재난문자에만 → 23만 낱말 통계 사전 → 조사·어미 규칙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235000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틀렸을 때 피해가 큰 문장은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검증된 경로로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081528"/>
            <a:ext cx="3584448" cy="173736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081528"/>
            <a:ext cx="3584448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24612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손가락 굽힘 재현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6118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뿌리→끝 직선거리 ÷ 마디 합(줄자 비율)을 해부학 비율로 마디에 배분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2452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투영 오차에 강하고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사람 손 자세만 생성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9392" y="3081528"/>
            <a:ext cx="3584448" cy="173736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9392" y="3081528"/>
            <a:ext cx="3584448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59" y="324612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없는 낱말은 카드로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36118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수어 클립이 없는 낱말(처방전·번호표 등)은 낱말 카드로 표시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422452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정보 손실 없이 전달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1855" y="3081528"/>
            <a:ext cx="3584448" cy="173736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1855" y="3081528"/>
            <a:ext cx="3584448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3023" y="324612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안전한 길 안내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3" y="36118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8방위·어림수 거리로 답하고, 15km를 넘는 장소는 '없어요'로 답함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3" y="422452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걸어서 못 가는 곳을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가리키지 않음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047488"/>
            <a:ext cx="11055096" cy="1188720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047488"/>
            <a:ext cx="45720" cy="1188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166359"/>
            <a:ext cx="106436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하드웨어 — 별도 장비를 만들지 않았습니다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D5DDE5"/>
                </a:solidFill>
                <a:latin typeface="Pretendard"/>
                <a:ea typeface="Pretendard"/>
                <a:cs typeface="Pretendard"/>
              </a:rPr>
              <a:t>입력: 기기 내장 카메라(수어 인식)·마이크(직원 음성)  ·  출력: 화면(3D 아바타·자막·방향 지도)·스피커(농인의 답 → 음성)  ·  키오스크: 태블릿 대화 화면 시작·큰 글씨·5분 무조작 시 자동 초기화  ·  영상은 기기 밖으로 나가지 않습니다.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완성도 25점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Ⅲ. 학습 모델 4종과 적용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학습 모델과 성능(표 6) — 측정 후 '안 쓰는 판단'도 결과입니다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07008"/>
          <a:ext cx="11055095" cy="32918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20143"/>
                <a:gridCol w="2859076"/>
                <a:gridCol w="4669825"/>
                <a:gridCol w="1906051"/>
              </a:tblGrid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모델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구조·크기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성능(측정값)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앱 적용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iso-v2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단어 인식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랜드마크 트랜스포머 6.3M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ONNX int8 20MB · 13,576종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무작위 대비 약 1만 배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어휘 커버리지 98.9% · 수어자 격차 0.05%p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적용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t2gs-v2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한국어→글로스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음절 seq2seq 23.3M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int8 30MB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통계 사전 대비 BLEU +45% · 글로스 F1 약 3배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int8 경량화 후 품질 저하 없음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재난문자에 적용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ctc-v1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연속 인식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CTC · 8,147종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 완료(학습 135,446 · 검증 6,617클립)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디코딩 파이썬↔브라우저 100% 일치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후속 적용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(iso-v2와 병행 검증)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g2ts-v1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글로스→한국어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seq2seq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재난 문장에서 사람 번역과 글자까지 일치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후속 적용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(재난 도메인 우선)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736592"/>
            <a:ext cx="1243584" cy="148132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736592"/>
            <a:ext cx="1243584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4901184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AI Hub 원본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5248656"/>
            <a:ext cx="10607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133GB 수신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4" y="5285232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4736592"/>
            <a:ext cx="1243584" cy="148132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65960" y="4736592"/>
            <a:ext cx="1243584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75688" y="4901184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ETL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5688" y="5248656"/>
            <a:ext cx="10607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40만 클립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1256" y="5285232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64992" y="4736592"/>
            <a:ext cx="1243584" cy="148132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64992" y="4736592"/>
            <a:ext cx="1243584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901184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학습 4종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248656"/>
            <a:ext cx="10607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KOREN AI Cloud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H200 MIG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5285232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64024" y="4736592"/>
            <a:ext cx="1243584" cy="148132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64024" y="4736592"/>
            <a:ext cx="1243584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3752" y="4901184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경량화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5248656"/>
            <a:ext cx="10607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int8 · ONNX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5285232"/>
            <a:ext cx="210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3056" y="4736592"/>
            <a:ext cx="1243584" cy="148132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63056" y="4736592"/>
            <a:ext cx="1243584" cy="45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4901184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앱 탑재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5248656"/>
            <a:ext cx="10607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브라우저 안 추론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4663440"/>
            <a:ext cx="3895344" cy="1645920"/>
          </a:xfrm>
          <a:prstGeom prst="rect">
            <a:avLst/>
          </a:prstGeom>
          <a:solidFill>
            <a:srgbClr val="FFF6E8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26679" y="4663440"/>
            <a:ext cx="45720" cy="1645920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82711" y="4782312"/>
            <a:ext cx="348386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안전이 먼저 — 측정 후 적용 범위 결정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재난 서비스는 틀린 수어가 더 위험합니다. 모든 모델을 측정으로 먼저 검증하고, 검증을 통과한 iso-v2·t2gs-v2를 앱에 탑재했습니다. 연속 인식·역번역은 재난 도메인 검증 후 단계적으로 적용합니다.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개발구현 30점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Ⅲ. KOREN 연동 및 활용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시험 환경 — 무엇을 어디서 시험했나(표 7) · 자원별 활용 결과(표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07008"/>
          <a:ext cx="11055095" cy="24140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61412"/>
                <a:gridCol w="3685032"/>
                <a:gridCol w="4708651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수행 환경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수신 · 학습 · 평가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KOREN AI Cloud (실제 사용)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Hub 133GB 수신, 모델 4종 학습·평가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전처리 분산(HPC)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KOREN HPC 이노베이션 허브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잡 스크립트 구현·교육 이수, 대량 실행은 다음 단계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배포 · 기능 시험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상용 인터넷망(GitHub Pages) · KOREN VM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폰·태블릿·키오스크 실조작 자동 검증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현장 시연 · 당사자 평가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로컬(노트북, 통신 없이 실행)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경산·대구 복지관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Core–Edge–단말 3계층 송출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설계 완료 · 이론값 산정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시험은 상용망·오프라인 로컬에서 수행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840480"/>
            <a:ext cx="3584448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840480"/>
            <a:ext cx="3584448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968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AI Cloud (CHEETAH)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2611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H200 MIG 1g.35GB · vCPU 16 · RAM 128Gi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55371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133GB 수신 · 스트리밍 ETL 40만 클립 · 모델 4종 학습 · 에폭당 215만 세그먼트(21~25분)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3840480"/>
            <a:ext cx="3584448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3840480"/>
            <a:ext cx="3584448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3968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HPC 이노베이션 허브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42611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Xeon Gold VM · PBS Torque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55371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8/5 교육 이수 · 샤딩 옵션·PBS 잡 스크립트 구현 — 다각도 영상 MediaPipe 재추출용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1855" y="3840480"/>
            <a:ext cx="3584448" cy="14173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1855" y="3840480"/>
            <a:ext cx="3584448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3" y="3968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KOREN VM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42611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NOC 발급 SSH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455371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9월부터 상시 데모 서버 — 웹앱(PWA)·모델·동작 사전·장소 목록 원천 배포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468112"/>
            <a:ext cx="11055096" cy="80467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468112"/>
            <a:ext cx="45720" cy="804672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586984"/>
            <a:ext cx="1064361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KOREN 자원에 맞춘 설계 — H200 MIG 연산 특성에 최적화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영상 CNN 대신 가벼운 랜드마크 트랜스포머를 골라, 원본 영상(수백 GB) 대신 랜드마크 팩(프레임당 약 0.5KB)과 모델만 옮기도록 설계했습니다.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KOREN 활용도 20점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Ⅲ. 같은 회선에 몇 명을 동시에 태울 수 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KOREN 대역폭 분석 — 400Gbps 지역 노드 회선 기준 (이론값, 표 9 · 그림 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400Gbps 회선 1개로 동시에 받을 수 있는 사람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5448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수어 영상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591056"/>
            <a:ext cx="98115" cy="237744"/>
          </a:xfrm>
          <a:prstGeom prst="rect">
            <a:avLst/>
          </a:prstGeom>
          <a:solidFill>
            <a:srgbClr val="94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9795" y="1554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약 20만 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2024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SignBridge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1956816"/>
            <a:ext cx="3383280" cy="23774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920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약 690만 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37744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대전 노드에서 1만 명이 동시에 받을 때 필요한 대역폭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74320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수어 영상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2779776"/>
            <a:ext cx="3383280" cy="237744"/>
          </a:xfrm>
          <a:prstGeom prst="rect">
            <a:avLst/>
          </a:prstGeom>
          <a:solidFill>
            <a:srgbClr val="94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7432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20 Gbps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10896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SignBridge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3145536"/>
            <a:ext cx="98115" cy="23774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9795" y="3108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0.58 Gbps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56616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단말 1만 대에 모델 사전 배포(880GB)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3192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상용 1Gbps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968496"/>
            <a:ext cx="3383280" cy="237744"/>
          </a:xfrm>
          <a:prstGeom prst="rect">
            <a:avLst/>
          </a:prstGeom>
          <a:solidFill>
            <a:srgbClr val="94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39319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약 2시간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29768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KOREN 400Gbps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334256"/>
            <a:ext cx="54864" cy="23774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66544" y="42976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17.6초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812280" y="1207008"/>
          <a:ext cx="4809743" cy="2514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77997"/>
                <a:gridCol w="1270498"/>
                <a:gridCol w="1361248"/>
              </a:tblGrid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시나리오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수어 영상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SignBridge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1인당 필요 대역폭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2 Mbps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57.6 kbps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대전 노드 1만 명 동시 수신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 Gbps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0.58 Gbps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400Gbps 회선 1개 동시 수용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약 20만 명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약 690만 명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단말 1만 대 모델 사전 배포(880GB)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상용 1Gbps 약 2시간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KOREN 400Gbps 17.6초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812280" y="3886200"/>
            <a:ext cx="48097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가정: 재난문자 1건(3문장, 7.2KB)을 1초 안에 전달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846320"/>
            <a:ext cx="3584448" cy="11887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846320"/>
            <a:ext cx="3584448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5065776"/>
            <a:ext cx="31455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35배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5632704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영상 대비 동시 수용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9392" y="4846320"/>
            <a:ext cx="3584448" cy="11887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9392" y="4846320"/>
            <a:ext cx="3584448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5065776"/>
            <a:ext cx="31455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99.95%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8848" y="5632704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송출 데이터 절감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91855" y="4846320"/>
            <a:ext cx="3584448" cy="11887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91855" y="4846320"/>
            <a:ext cx="3584448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1" y="5065776"/>
            <a:ext cx="31455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17.6초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1" y="5632704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단말 1만 대 사전 배포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108192"/>
            <a:ext cx="110550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0AE"/>
                </a:solidFill>
                <a:latin typeface="Pretendard"/>
                <a:ea typeface="Pretendard"/>
                <a:cs typeface="Pretendard"/>
              </a:rPr>
              <a:t>※ 400Gbps 지역 노드 회선 용량 기준 산정값(이론값)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KOREN 활용도 20점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Ⅲ. KOREN 설계 대비 구현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Core와 단말은 구현·운영 중 · Edge 송출은 설계 완료 (표 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07008"/>
          <a:ext cx="11055094" cy="34015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7288"/>
                <a:gridCol w="5481865"/>
                <a:gridCol w="3745941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설계 요소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구현·운영한 것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다음 단계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Core · AI Cloud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133GB 수신, 40만 클립 ETL, 모델 4종 학습, 에폭당 215만 세그먼트(21~25분)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Core · HPC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샤딩 옵션 · PBS 잡 스크립트 구현, 활용 교육 이수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다각도 영상 MediaPipe 재추출 분산 실행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Core · KOREN VM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상시 데모 서버 운영(웹앱·모델·동작 사전 원천 배포)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재난문자 자동 수신 연동(공공데이터 키 필요)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Edge · 지역 노드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수어 패키지 형식(글로스+키포인트, 약 2.4KB/문장) 확정 — 영상의 약 1/2,000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지역 노드 미러 배치 · 다지점 송출 종단 지연 실측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단말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기기 안 추론 · 오프라인 폴백 · 폰/태블릿/키오스크 실조작 검증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892040"/>
            <a:ext cx="11055096" cy="1188720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892040"/>
            <a:ext cx="45720" cy="118872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10912"/>
            <a:ext cx="106436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파일럿 시연이 곧 '끊겨도 동작'의 실증이었습니다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D5DDE5"/>
                </a:solidFill>
                <a:latin typeface="Pretendard"/>
                <a:ea typeface="Pretendard"/>
                <a:cs typeface="Pretendard"/>
              </a:rPr>
              <a:t>경산·대구 복지관에서 네트워크 없이 노트북 로컬 실행으로 시연을 마쳤습니다 — 설계 원칙 4.(단말 단독 경로)를 현장에서 확인했습니다.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D5DDE5"/>
                </a:solidFill>
                <a:latin typeface="Pretendard"/>
                <a:ea typeface="Pretendard"/>
                <a:cs typeface="Pretendard"/>
              </a:rPr>
              <a:t>두 복지관은 모두 KOREN 대구 노드 권역으로, Edge 설계가 적용되면 이 지역 단말은 대구 노드에서 수어 패키지를 받습니다.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KOREN 활용도 20점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Ⅲ. 멘토 의견에 따른 개선사항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받은 의견과 반영 내용 (표 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07008"/>
          <a:ext cx="11055094" cy="468172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84110"/>
                <a:gridCol w="4111399"/>
                <a:gridCol w="4659585"/>
              </a:tblGrid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일자 · 멘토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받은 의견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반영 내용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7/23 KOREN 자원 활용 미팅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Cloud·HPC·VM 활용, 과제 기간 중 반드시 활용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자원별 역할 분담 — AI Cloud 학습 · HPC 전처리 · VM 상시 데모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8/5 HPC 교육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VM 구성, PBS Torque, 분산 작업 제출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영상→랜드마크 HPC 분산 설계, 샤딩·PBS 잡 스크립트 구현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8/7 AI Cloud 교육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워크스페이스·볼륨 운영, MIG 연산 특성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볼륨 운영 원칙 수립, MIG에 맞춰 랜드마크 트랜스포머 채택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지도교수(컴퓨터공학)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수치 신뢰성, 실데이터 검증, 실시간성·경량화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수어자 분리 평가 고정, 처음 보는 수어자 13명 이중 평가, 브라우저 단독 추론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지도교수(사회복지학)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문해력 편차 고려, 텍스트 중심 지양, 당사자 검증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한국어 최소화 화면, 복지관 2곳 시연(8월) · 당사자 평가(9~10월)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10/18 멘토 보고서 검토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3계층 실시험 여부 명시, 대역폭 관점, 지표 10개 핵심화, 상용화 보강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시험 환경 표, 노드 회선 대역폭 분석, 핵심 지표 10개, 상용화·기대효과 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중간평가 이후 자체 점검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KOREN 활용이 학습에 치우침 — 송출 단계 활용을 보일 것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Core·Edge·단말 3계층 설계, VM 상시 운영, 수어 패키지 형식 확정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완성도 25점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Ⅲ. 핵심 정량 평가 지표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정확도 5 · 속도 2 · KOREN 3(이론값) — 모두 저장소의 측정 스크립트가 다시 계산한 값 (표 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80160"/>
            <a:ext cx="2103120" cy="1691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80160"/>
            <a:ext cx="210312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99616"/>
            <a:ext cx="16642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06654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1. 오역 회귀 통과율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34086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156/156 must/never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280160"/>
            <a:ext cx="2103120" cy="1691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280160"/>
            <a:ext cx="210312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1499616"/>
            <a:ext cx="16642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206654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2. 행동요령 표현률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234086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목숨이 걸린 문장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10912" y="1280160"/>
            <a:ext cx="2103120" cy="1691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10912" y="1280160"/>
            <a:ext cx="210312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1499616"/>
            <a:ext cx="16642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+45%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06654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3. 번역 BLEU 향상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234086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학습 모델 vs 통계 사전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2904" y="1280160"/>
            <a:ext cx="2103120" cy="1691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32904" y="1280160"/>
            <a:ext cx="210312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499616"/>
            <a:ext cx="16642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06654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4. 수어 의도 판정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34086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27/27 · 오검출 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54896" y="1280160"/>
            <a:ext cx="2103120" cy="1691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54896" y="1280160"/>
            <a:ext cx="2103120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74352" y="1499616"/>
            <a:ext cx="16642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0.05%p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206654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5. 새 수어자 성능 격차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234086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13명 · 사실상 차이 없음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154679"/>
            <a:ext cx="2103120" cy="1691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154679"/>
            <a:ext cx="2103120" cy="41148"/>
          </a:xfrm>
          <a:prstGeom prst="rect">
            <a:avLst/>
          </a:prstGeom>
          <a:solidFill>
            <a:srgbClr val="2F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3374135"/>
            <a:ext cx="16642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2FA37A"/>
                </a:solidFill>
                <a:latin typeface="Pretendard"/>
                <a:ea typeface="Pretendard"/>
                <a:cs typeface="Pretendard"/>
              </a:rPr>
              <a:t>144ms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394106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6. 문장 번역 속도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421538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브라우저 1스레드 int8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3154679"/>
            <a:ext cx="2103120" cy="1691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88920" y="3154679"/>
            <a:ext cx="2103120" cy="41148"/>
          </a:xfrm>
          <a:prstGeom prst="rect">
            <a:avLst/>
          </a:prstGeom>
          <a:solidFill>
            <a:srgbClr val="2F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08376" y="3374135"/>
            <a:ext cx="16642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2FA37A"/>
                </a:solidFill>
                <a:latin typeface="Pretendard"/>
                <a:ea typeface="Pretendard"/>
                <a:cs typeface="Pretendard"/>
              </a:rPr>
              <a:t>18ms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08376" y="394106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7. 수어 인식 추론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08376" y="421538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브라우저 ONNX 1회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10912" y="3154679"/>
            <a:ext cx="2103120" cy="1691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10912" y="3154679"/>
            <a:ext cx="2103120" cy="4114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0368" y="3374135"/>
            <a:ext cx="16642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D97B1A"/>
                </a:solidFill>
                <a:latin typeface="Pretendard"/>
                <a:ea typeface="Pretendard"/>
                <a:cs typeface="Pretendard"/>
              </a:rPr>
              <a:t>99.95%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0368" y="394106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8. 송출 데이터 절감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30368" y="421538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문장당 2.4KB · 이론값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32904" y="3154679"/>
            <a:ext cx="2103120" cy="1691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2904" y="3154679"/>
            <a:ext cx="2103120" cy="4114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3374135"/>
            <a:ext cx="16642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D97B1A"/>
                </a:solidFill>
                <a:latin typeface="Pretendard"/>
                <a:ea typeface="Pretendard"/>
                <a:cs typeface="Pretendard"/>
              </a:rPr>
              <a:t>690만 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394106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9. 노드당 동시 수용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421538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영상의 35배 · 이론값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54896" y="3154679"/>
            <a:ext cx="2103120" cy="169164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54896" y="3154679"/>
            <a:ext cx="2103120" cy="41148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74352" y="3374135"/>
            <a:ext cx="16642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D97B1A"/>
                </a:solidFill>
                <a:latin typeface="Pretendard"/>
                <a:ea typeface="Pretendard"/>
                <a:cs typeface="Pretendard"/>
              </a:rPr>
              <a:t>17.6초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74352" y="394106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10. 단말 1만 대 배포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74352" y="4215383"/>
            <a:ext cx="16642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880GB · 이론값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212080"/>
            <a:ext cx="164592" cy="164592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517550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정확도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78608" y="5212080"/>
            <a:ext cx="164592" cy="164592"/>
          </a:xfrm>
          <a:prstGeom prst="rect">
            <a:avLst/>
          </a:prstGeom>
          <a:solidFill>
            <a:srgbClr val="2F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34640" y="517550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속도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90288" y="5212080"/>
            <a:ext cx="164592" cy="164592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46320" y="517550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KOREN 성능(이론값)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5577840"/>
            <a:ext cx="110550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인식은 수어자 분리, 번역은 튜닝에 쓰지 않은 홀드아웃 기준. 13,576종 인식은 무작위 대비 약 1만 배이며, 앱은 후보 5개를 함께 보여 줘 농인이 한 번에 바로잡은 뒤에만 음성으로 내보냅니다.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완성도 25점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Ⅲ. 화면으로는 안 보이는 실패를 잡습니다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도메인별 번역 낱말 표현률(표 13) · 회귀 검사로 막은 실제 사례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07008"/>
            <a:ext cx="2359152" cy="129844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07008"/>
            <a:ext cx="235915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156/156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933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오역 회귀 전부 통과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6771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must / never 문장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54096" y="1207008"/>
            <a:ext cx="2359152" cy="129844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54096" y="1207008"/>
            <a:ext cx="235915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1426464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19933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행동요령 표현률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26771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목숨이 걸린 문장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624328"/>
            <a:ext cx="2359152" cy="129844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624328"/>
            <a:ext cx="235915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2843784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41071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길찾기 표현률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685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방위어 고정 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54096" y="2624328"/>
            <a:ext cx="2359152" cy="129844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54096" y="2624328"/>
            <a:ext cx="2359152" cy="41148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3552" y="2843784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97.5%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341071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5개 영역 평균 표현률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3552" y="36850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튜닝 안 한 문장 포함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160520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표현률만으로는 '맞게' 나갔는지 알 수 없어, 한 번이라도 틀렸던 문장 156건을 매 변경마다 다시 검사합니다 — "어디가 아프신지" 같은 함정 문장도 모두 통과합니다.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1207008"/>
            <a:ext cx="5907024" cy="124358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15000" y="1207008"/>
            <a:ext cx="45720" cy="1243584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13258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부정 손실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134416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D97B1A"/>
                </a:solidFill>
                <a:latin typeface="Pretendard"/>
                <a:ea typeface="Pretendard"/>
                <a:cs typeface="Pretendard"/>
              </a:rPr>
              <a:t>"약을 안 먹었어요" → '약 먹다'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737360"/>
            <a:ext cx="5532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'안'·'못'이 짧은 낱말 규칙에 걸려 버려져 뜻이 뒤집힘 → 안→아니다, 못→못하다 고정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2578608"/>
            <a:ext cx="5907024" cy="124358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15000" y="2578608"/>
            <a:ext cx="45720" cy="1243584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2697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방향 오역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271576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D97B1A"/>
                </a:solidFill>
                <a:latin typeface="Pretendard"/>
                <a:ea typeface="Pretendard"/>
                <a:cs typeface="Pretendard"/>
              </a:rPr>
              <a:t>'북동쪽' → 'km 지진 크기'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108960"/>
            <a:ext cx="5532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방위어를 고정하고 길찾기 검사에 추가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0" y="3950208"/>
            <a:ext cx="5907024" cy="124358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15000" y="3950208"/>
            <a:ext cx="45720" cy="1243584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4069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도메인 오적용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08736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D97B1A"/>
                </a:solidFill>
                <a:latin typeface="Pretendard"/>
                <a:ea typeface="Pretendard"/>
                <a:cs typeface="Pretendard"/>
              </a:rPr>
              <a:t>"엘리베이터를 타지 말고 계단으로"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480560"/>
            <a:ext cx="5532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학습 모델이 엉뚱한 글로스 → 목숨이 걸린 행동요령은 사전으로 분기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440680"/>
            <a:ext cx="11055096" cy="777240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5440680"/>
            <a:ext cx="45720" cy="77724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559552"/>
            <a:ext cx="10643616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잘못된 수어는 표현되지 않은 것보다 나쁩니다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D5DDE5"/>
                </a:solidFill>
                <a:latin typeface="Pretendard"/>
                <a:ea typeface="Pretendard"/>
                <a:cs typeface="Pretendard"/>
              </a:rPr>
              <a:t>농인은 화면의 수어를 믿습니다. 그래서 '틀렸을 때의 피해'로 경로를 정하고, 한 번이라도 틀렸던 문장은 매 변경마다 다시 검사합니다.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완성도 25점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Ⅲ. 자동 시험·검증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자동 시험·검증 항목과 결과 (표 14) — 기기별 실조작 검증 포함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07008"/>
          <a:ext cx="7406640" cy="457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4023360"/>
                <a:gridCol w="1645920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검사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특징 일치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파이썬 학습 ↔ 브라우저 추론 155차원 특징 대조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오차 0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CTC 디코딩 일치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파이썬 ↔ 브라우저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3,000판 전부 일치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오역 회귀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한 번이라도 틀렸던 문장 must/never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156건 통과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재생 확인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번역 글로스가 동작 사전에 실존·재생되는가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371문장 2,388개 전부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의도 판정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수어 낱말 묶음 → 의도(오검출 포함)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27/27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의도 낱말 실존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의도 판정 낱말이 인식 클래스에 있는가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47/47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재난 갈래 이름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재난 갈래별 한국어 이름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41/41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길찾기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거리·방위·어림수·15km 차단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통과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실조작 e2e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폰·태블릿(가로/세로)·키오스크·오프라인, 버튼 36px 이상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통과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web_app_묻기.png"/>
          <p:cNvPicPr>
            <a:picLocks noChangeAspect="1"/>
          </p:cNvPicPr>
          <p:nvPr/>
        </p:nvPicPr>
        <p:blipFill>
          <a:blip r:embed="rId2"/>
          <a:srcRect l="2423" r="2423"/>
          <a:stretch>
            <a:fillRect/>
          </a:stretch>
        </p:blipFill>
        <p:spPr>
          <a:xfrm>
            <a:off x="8211312" y="1207008"/>
            <a:ext cx="3410712" cy="2240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11312" y="1207008"/>
            <a:ext cx="3410712" cy="224028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3493008"/>
            <a:ext cx="3410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데스크톱 · 묻기</a:t>
            </a:r>
          </a:p>
        </p:txBody>
      </p:sp>
      <p:pic>
        <p:nvPicPr>
          <p:cNvPr id="12" name="Picture 11" descr="app_묻기시작.png"/>
          <p:cNvPicPr>
            <a:picLocks noChangeAspect="1"/>
          </p:cNvPicPr>
          <p:nvPr/>
        </p:nvPicPr>
        <p:blipFill>
          <a:blip r:embed="rId3"/>
          <a:srcRect t="34674" b="34674"/>
          <a:stretch>
            <a:fillRect/>
          </a:stretch>
        </p:blipFill>
        <p:spPr>
          <a:xfrm>
            <a:off x="8211312" y="3822191"/>
            <a:ext cx="3410712" cy="22402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211312" y="3822191"/>
            <a:ext cx="3410712" cy="2240280"/>
          </a:xfrm>
          <a:prstGeom prst="rect">
            <a:avLst/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6108192"/>
            <a:ext cx="3410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폰 · 묻기 시작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완성도 25점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Ⅲ. 복지관 2곳 파일럿 시연 성공 — 당사자가 직접 써 봤습니다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경산시장애인종합복지관(8월 파일럿 · 9월 당사자 평가) · 대구광역시청각언어장애인복지관(8월 파일럿)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.jpg"/>
          <p:cNvPicPr>
            <a:picLocks noChangeAspect="1"/>
          </p:cNvPicPr>
          <p:nvPr/>
        </p:nvPicPr>
        <p:blipFill>
          <a:blip r:embed="rId2"/>
          <a:srcRect l="12058" r="12058"/>
          <a:stretch>
            <a:fillRect/>
          </a:stretch>
        </p:blipFill>
        <p:spPr>
          <a:xfrm>
            <a:off x="566928" y="1188720"/>
            <a:ext cx="2615184" cy="1938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3218688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김주형 — 수어 이용자에게 직접 시연</a:t>
            </a:r>
          </a:p>
        </p:txBody>
      </p:sp>
      <p:pic>
        <p:nvPicPr>
          <p:cNvPr id="10" name="Picture 9" descr="02.jpg"/>
          <p:cNvPicPr>
            <a:picLocks noChangeAspect="1"/>
          </p:cNvPicPr>
          <p:nvPr/>
        </p:nvPicPr>
        <p:blipFill>
          <a:blip r:embed="rId3"/>
          <a:srcRect l="12058" r="12058"/>
          <a:stretch>
            <a:fillRect/>
          </a:stretch>
        </p:blipFill>
        <p:spPr>
          <a:xfrm>
            <a:off x="3291840" y="1188720"/>
            <a:ext cx="2615184" cy="19385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91840" y="3218688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김주형 — 묻기 화면을 함께 확인</a:t>
            </a:r>
          </a:p>
        </p:txBody>
      </p:sp>
      <p:pic>
        <p:nvPicPr>
          <p:cNvPr id="12" name="Picture 11" descr="04.jpg"/>
          <p:cNvPicPr>
            <a:picLocks noChangeAspect="1"/>
          </p:cNvPicPr>
          <p:nvPr/>
        </p:nvPicPr>
        <p:blipFill>
          <a:blip r:embed="rId4"/>
          <a:srcRect l="12058" r="12058"/>
          <a:stretch>
            <a:fillRect/>
          </a:stretch>
        </p:blipFill>
        <p:spPr>
          <a:xfrm>
            <a:off x="566928" y="3584448"/>
            <a:ext cx="2615184" cy="19385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5614416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류다영 — 아바타 수어를 함께 보며 확인</a:t>
            </a:r>
          </a:p>
        </p:txBody>
      </p:sp>
      <p:pic>
        <p:nvPicPr>
          <p:cNvPr id="14" name="Picture 13" descr="07.jpg"/>
          <p:cNvPicPr>
            <a:picLocks noChangeAspect="1"/>
          </p:cNvPicPr>
          <p:nvPr/>
        </p:nvPicPr>
        <p:blipFill>
          <a:blip r:embed="rId5"/>
          <a:srcRect l="12058" r="12058"/>
          <a:stretch>
            <a:fillRect/>
          </a:stretch>
        </p:blipFill>
        <p:spPr>
          <a:xfrm>
            <a:off x="3291840" y="3584448"/>
            <a:ext cx="2615184" cy="19385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91840" y="5614416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김주형 — 4개 에이전트 구조 설명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1764792" cy="111556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17647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408176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2곳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197510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복지관 파일럿 시연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188720"/>
            <a:ext cx="1764792" cy="111556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188720"/>
            <a:ext cx="17647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1408176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197510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오프라인 실행 성공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1188720"/>
            <a:ext cx="1764792" cy="1115568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75520" y="1188720"/>
            <a:ext cx="1764792" cy="411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94976" y="1408176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5개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4976" y="197510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당사자 평가 항목 반영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126480" y="2468880"/>
          <a:ext cx="5495544" cy="30175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43000"/>
                <a:gridCol w="4352544"/>
              </a:tblGrid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당사자 반응 → 반영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수어자 동작이라 낱말을 알아보기 쉽다는 평가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사용성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방향·거리·지도를 함께 주는 답이 이해를 도움 · 탭 4개로 쉬운 조작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접근성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'눌러서 묻기'(질문 카드·필담) 경로 → 대화 탭에 반영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현장 적합성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별도 네트워크 없이 노트북 로컬 실행으로 시연 완료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자연스러움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고개 끄덕임·흔들기 표현 → 아바타에 반영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6126480" y="5559552"/>
            <a:ext cx="5495544" cy="713232"/>
          </a:xfrm>
          <a:prstGeom prst="rect">
            <a:avLst/>
          </a:prstGeom>
          <a:solidFill>
            <a:srgbClr val="FFF6E8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5559552"/>
            <a:ext cx="45720" cy="713232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5678424"/>
            <a:ext cx="508406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실제 사용 순서대로 직접 조작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받기 → 묻기('대피소 어디') → 대화(질문 카드·필담) → 화면·글씨 의견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완성도 25점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Ⅳ. 개발 최종 결과물과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서버 없이 기기 안에서 양방향으로 동작하는 앱 + 학습·검증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07008"/>
            <a:ext cx="5760720" cy="107899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07008"/>
            <a:ext cx="45720" cy="1078992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2588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앱 5종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645920"/>
            <a:ext cx="5394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웹(PWA)·안드로이드·iOS·데스크톱·키오스크 — 받기·묻기·대화·사전 4개 탭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biocode67.github.io/signbridge · KOREN VM 상시 서버 · 오프라인 동작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95728"/>
            <a:ext cx="5760720" cy="107899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395728"/>
            <a:ext cx="45720" cy="1078992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146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학습 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834640"/>
            <a:ext cx="5394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iso-v2(13,576종) · t2gs-v2(int8 30MB) 앱 탑재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ctc-v1(연속 인식) · g2ts-v1(역번역) 학습 완료 — 후속 적용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584448"/>
            <a:ext cx="5760720" cy="107899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584448"/>
            <a:ext cx="45720" cy="1078992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7033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데이터 자산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023360"/>
            <a:ext cx="5394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동작 사전 12,833종(손 깊이 포함) · 번역 사전 230,240낱말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전국 장소 28,125곳(대피소 14,134곳)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773168"/>
            <a:ext cx="5760720" cy="107899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773168"/>
            <a:ext cx="45720" cy="1078992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89204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검증 체계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212080"/>
            <a:ext cx="5394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특징 일치·오역 회귀·재생 확인·의도 판정·길찾기·실조작 e2e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판단 기록(DECISIONS.md)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207008"/>
            <a:ext cx="4992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다음 단계 — 데이터와 경로는 이미 확보했습니다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1728216"/>
            <a:ext cx="73152" cy="73152"/>
          </a:xfrm>
          <a:prstGeom prst="ellipse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16642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연속 수어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1956816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CTC 모델 학습 완료 → 단어 인식(iso-v2)과 병행 적용</a:t>
            </a:r>
          </a:p>
        </p:txBody>
      </p:sp>
      <p:sp>
        <p:nvSpPr>
          <p:cNvPr id="28" name="Oval 27"/>
          <p:cNvSpPr/>
          <p:nvPr/>
        </p:nvSpPr>
        <p:spPr>
          <a:xfrm>
            <a:off x="6629400" y="2624327"/>
            <a:ext cx="73152" cy="73152"/>
          </a:xfrm>
          <a:prstGeom prst="ellipse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25603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지문자(이름·지명)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2852927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클립 17,000개·지명 1,015종·자모 37종 확인 → 자모 CTC 학습</a:t>
            </a:r>
          </a:p>
        </p:txBody>
      </p:sp>
      <p:sp>
        <p:nvSpPr>
          <p:cNvPr id="31" name="Oval 30"/>
          <p:cNvSpPr/>
          <p:nvPr/>
        </p:nvSpPr>
        <p:spPr>
          <a:xfrm>
            <a:off x="6629400" y="3520440"/>
            <a:ext cx="73152" cy="73152"/>
          </a:xfrm>
          <a:prstGeom prst="ellipse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9712" y="34564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표정(비수지)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374904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고개 끄덕임·흔들기 반영 완료 → 마우징·눈썹 순으로 확장</a:t>
            </a:r>
          </a:p>
        </p:txBody>
      </p:sp>
      <p:sp>
        <p:nvSpPr>
          <p:cNvPr id="34" name="Oval 33"/>
          <p:cNvSpPr/>
          <p:nvPr/>
        </p:nvSpPr>
        <p:spPr>
          <a:xfrm>
            <a:off x="6629400" y="4416552"/>
            <a:ext cx="73152" cy="73152"/>
          </a:xfrm>
          <a:prstGeom prst="ellipse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9712" y="435254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공식 대피소 목록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4645152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전국 대피소 14,134곳 탑재 → 행정안전부 공식 목록 실시간 연동</a:t>
            </a:r>
          </a:p>
        </p:txBody>
      </p:sp>
      <p:sp>
        <p:nvSpPr>
          <p:cNvPr id="37" name="Oval 36"/>
          <p:cNvSpPr/>
          <p:nvPr/>
        </p:nvSpPr>
        <p:spPr>
          <a:xfrm>
            <a:off x="6629400" y="5312664"/>
            <a:ext cx="73152" cy="73152"/>
          </a:xfrm>
          <a:prstGeom prst="ellipse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9712" y="524865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KOREN Edge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5541264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설계 완료 → 지역 노드 미러 배치 · 다지점 송출 실측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완성도 25점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Ⅳ. 같은 코드로 5가지 형태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웹 · 안드로이드 · iOS · 데스크톱 · 키오스크 — 하나의 웹앱을 기기별로 패키징, 인식·번역·오프라인 동작이 모두 같습니다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4069080" cy="30175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eb_app_받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60182"/>
            <a:ext cx="3959352" cy="24745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251960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데스크톱 · 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3168" y="1188720"/>
            <a:ext cx="1371600" cy="30175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pp_받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345474"/>
            <a:ext cx="1261872" cy="27040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73168" y="42519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폰 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1928" y="1188720"/>
            <a:ext cx="2103120" cy="3017520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2e_태블릿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263210"/>
            <a:ext cx="1993391" cy="28685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81928" y="42519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태블릿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503920" y="1188720"/>
          <a:ext cx="3118102" cy="34015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68437"/>
                <a:gridCol w="1736874"/>
                <a:gridCol w="512791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형태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구현 내용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웹(PWA)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브라우저 실행 · 홈 화면 설치 · 오프라인 동작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안드로이드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Capacitor로 웹앱 패키징 · 실기기 설치·실행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빌드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iOS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Capacitor로 웹앱 패키징 · 실기기 실행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빌드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데스크톱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설치형 데스크톱 앱 · 복지관 노트북 로컬 실행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빌드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키오스크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세로 1080×1920 전용 모드 · 큰 버튼 · 실조작 검증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66928" y="4800600"/>
            <a:ext cx="11055096" cy="1325880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800600"/>
            <a:ext cx="45720" cy="132588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19472"/>
            <a:ext cx="1064361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연구 성과 — 학술 논문 작성 완료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D5DDE5"/>
                </a:solidFill>
                <a:latin typeface="Pretendard"/>
                <a:ea typeface="Pretendard"/>
                <a:cs typeface="Pretendard"/>
              </a:rPr>
              <a:t>SignBridge의 4개 에이전트 양방향 구조 · 기기 안(온디바이스) 인식·번역 · KOREN 대역폭 분석 · 복지관 2곳 파일럿 시연과 당사자 평가를 학술 논문으로 정리했습니다.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D5DDE5"/>
                </a:solidFill>
                <a:latin typeface="Pretendard"/>
                <a:ea typeface="Pretendard"/>
                <a:cs typeface="Pretendard"/>
              </a:rPr>
              <a:t>과제 결과가 서비스(앱 5종)와 연구(논문) 두 갈래로 남습니다.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완성도 25점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Ⅳ. 다음 무대 — 스마트 글래스(메타 글래스 등) 적용 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농인은 두 손으로 수어를 합니다 — 기기를 들지 않아도 되는 화면이 필요합니다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07008"/>
            <a:ext cx="4206240" cy="5010912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07008"/>
            <a:ext cx="54864" cy="5010912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18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왜 글래스인가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3703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D5DDE5"/>
                </a:solidFill>
                <a:latin typeface="Pretendard"/>
                <a:ea typeface="Pretendard"/>
                <a:cs typeface="Pretendard"/>
              </a:rPr>
              <a:t>폰을 들면 한 손이 묶여 수어가 무너집니다. 시야 안에 수어 아바타·자막·방향이 떠 있으면 두 손은 자유롭고, 눈은 상대를 볼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66160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18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20MB · 30MB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136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0AE"/>
                </a:solidFill>
                <a:latin typeface="Pretendard"/>
                <a:ea typeface="Pretendard"/>
                <a:cs typeface="Pretendard"/>
              </a:rPr>
              <a:t>인식·번역 모델 크기(int8)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07408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18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오프라인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0AE"/>
                </a:solidFill>
                <a:latin typeface="Pretendard"/>
                <a:ea typeface="Pretendard"/>
                <a:cs typeface="Pretendard"/>
              </a:rPr>
              <a:t>기기 안에서 동작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48656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18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웹 코드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961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0AE"/>
                </a:solidFill>
                <a:latin typeface="Pretendard"/>
                <a:ea typeface="Pretendard"/>
                <a:cs typeface="Pretendard"/>
              </a:rPr>
              <a:t>5개 플랫폼과 공유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1207008"/>
            <a:ext cx="6638544" cy="98755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83480" y="1207008"/>
            <a:ext cx="45720" cy="987552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1335024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시야 속 수어 아바타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1709928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재난문자·안내 방송을 렌즈 안 아바타 수어와 자막으로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2322576"/>
            <a:ext cx="6638544" cy="98755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83480" y="2322576"/>
            <a:ext cx="45720" cy="987552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2450592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상대 음성 → 자막·수어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2825496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창구 직원·구조대의 말을 실시간 자막·수어로 — 대화 탭 기능 이식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3438144"/>
            <a:ext cx="6638544" cy="98755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3480" y="3438144"/>
            <a:ext cx="45720" cy="987552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30368" y="3566160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방향 오버레이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3941063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'대피소 어디' 답을 화살표·거리로 시야 위에 — 묻기 탭 길 안내 이식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4553712"/>
            <a:ext cx="6638544" cy="987552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83480" y="4553712"/>
            <a:ext cx="45720" cy="987552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0368" y="4681728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손이 자유로운 입력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50566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글래스 카메라로 상대를 보며 수어 — 인식 모델(13,576종) 그대로 활용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5705856"/>
            <a:ext cx="6638544" cy="512064"/>
          </a:xfrm>
          <a:prstGeom prst="rect">
            <a:avLst/>
          </a:prstGeom>
          <a:solidFill>
            <a:srgbClr val="FFF6E8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83480" y="5705856"/>
            <a:ext cx="45720" cy="512064"/>
          </a:xfrm>
          <a:prstGeom prst="rect">
            <a:avLst/>
          </a:prstGeom>
          <a:solidFill>
            <a:srgbClr val="D9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0368" y="5797296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상태: 적용 준비 중 — 기존 앱의 받기·묻기·대화 기능을 글래스 화면 규격으로 옮기는 작업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필요성·독창성 25점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Ⅳ. 상용화를 위한 추가 개발 8항목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필요한 데이터와 경로는 이미 확인해 두었습니다 (표 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07008"/>
          <a:ext cx="11055095" cy="47731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5924"/>
                <a:gridCol w="5481865"/>
                <a:gridCol w="3837306"/>
              </a:tblGrid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추가 개발 내용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0B0E1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아바타 사실감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실사형 아바타·손가락 4마디 리그, 표정 블렌드셰이프, 동작 이음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사람 통역사에 가까운 수어 — 신뢰도·이해도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비수지 문법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Hub 원본의 고개·눈썹·마우징 구간 학습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의문문·부정 등 표정 문법 반영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연속 수어 인식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 완료한 CTC 모델을 단어 인식과 병행 적용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이어서 하는 수어를 문장으로 인식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지문자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자모 37종 CTC 학습(클립 17,000개 확보)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이름·지명 등 고유명사 입출력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재난 연계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행정안전부 재난문자(CBS)·공식 대피소 실시간 연동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공식 정보로 즉시 자동 송출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KOREN 실증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지역 노드 Edge 미러 배치, 다지점 송출 지연·동시 접속 실측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이론값을 실측값으로 검증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플랫폼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앱 마켓 정식 배포(빌드 완료), 기관 키오스크 전용 기기, 방송 송출 연동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공공기관·방송사 도입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6181D"/>
                          </a:solidFill>
                          <a:latin typeface="Pretendard"/>
                          <a:ea typeface="Pretendard"/>
                          <a:cs typeface="Pretendard"/>
                        </a:rPr>
                        <a:t>농인 당사자 대규모 평가, 수어 전문가 감수 체계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A7C8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지속적인 정확도 개선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E3E8EE"/>
                      </a:solidFill>
                    </a:lnL>
                    <a:lnR w="6350">
                      <a:solidFill>
                        <a:srgbClr val="E3E8EE"/>
                      </a:solidFill>
                    </a:lnR>
                    <a:lnT w="6350">
                      <a:solidFill>
                        <a:srgbClr val="E3E8EE"/>
                      </a:solidFill>
                    </a:lnT>
                    <a:lnB w="6350">
                      <a:solidFill>
                        <a:srgbClr val="E3E8EE"/>
                      </a:solidFill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완성도 25점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"/>
            <a:ext cx="50292" cy="384048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19456"/>
            <a:ext cx="8778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spc="-32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Ⅳ. 기술 구현에 따른 기대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기대 효과 요약 (표 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C3CBD4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32688"/>
            <a:ext cx="11057839" cy="12801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0700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사회적 효과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5458968" cy="115214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45720" cy="115214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7830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재난 정보 접근권 보장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4884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약 44만 명 청각장애인이 재난문자를 수어로 즉시 — 통역사 배치 없이 자동 변환·송출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26080"/>
            <a:ext cx="5458968" cy="115214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926080"/>
            <a:ext cx="45720" cy="115214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63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농인이 '묻는' 쪽이 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42900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대피소 방향·거리를 수어로 묻고 답을 받음 — 의도 판정 100%, 오프라인 길 안내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206240"/>
            <a:ext cx="5458968" cy="115214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206240"/>
            <a:ext cx="45720" cy="115214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3434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공공 창구의 소통 장벽 해소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709159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병원·약국·주민센터 키오스크 — 직원 음성 ↔ 수어·음성 대화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120700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7C8A"/>
                </a:solidFill>
                <a:latin typeface="Pretendard"/>
                <a:ea typeface="Pretendard"/>
                <a:cs typeface="Pretendard"/>
              </a:rPr>
              <a:t>기술·산업적 효과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1645920"/>
            <a:ext cx="5458968" cy="115214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1645920"/>
            <a:ext cx="45720" cy="1152144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830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대규모 동시 송출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4884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같은 회선으로 영상 대비 약 35배 많은 사람에게 — 송출 데이터 99.95% 절감(이론값)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2926080"/>
            <a:ext cx="5458968" cy="115214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2926080"/>
            <a:ext cx="45720" cy="1152144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063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통신 단절에도 동작하는 온디바이스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2900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문장 번역 144ms · 인식 18ms, 기기 안 처리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4206240"/>
            <a:ext cx="5458968" cy="1152144"/>
          </a:xfrm>
          <a:prstGeom prst="rect">
            <a:avLst/>
          </a:prstGeom>
          <a:solidFill>
            <a:srgbClr val="F4F7F9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4206240"/>
            <a:ext cx="45720" cy="1152144"/>
          </a:xfrm>
          <a:prstGeom prst="rect">
            <a:avLst/>
          </a:prstGeom>
          <a:solidFill>
            <a:srgbClr val="0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3434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181D"/>
                </a:solidFill>
                <a:latin typeface="Pretendard"/>
                <a:ea typeface="Pretendard"/>
                <a:cs typeface="Pretendard"/>
              </a:rPr>
              <a:t>KOREN 연구 자원의 공공 서비스 전환 모델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709159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Core–Edge–단말 3계층 — 다른 재난·공공 AI 서비스에 그대로 적용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559552"/>
            <a:ext cx="11055096" cy="713232"/>
          </a:xfrm>
          <a:prstGeom prst="rect">
            <a:avLst/>
          </a:prstGeom>
          <a:solidFill>
            <a:srgbClr val="0B0E14"/>
          </a:solidFill>
          <a:ln>
            <a:noFill/>
          </a:ln>
          <a:effectLst>
            <a:outerShdw blurRad="88900" dist="22225" dir="5400000" rotWithShape="0">
              <a:srgbClr val="0B122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559552"/>
            <a:ext cx="45720" cy="713232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678424"/>
            <a:ext cx="1064361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한국수화언어법이 보장하는 정보 접근권의 실질적 구현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D5DDE5"/>
                </a:solidFill>
                <a:latin typeface="Pretendard"/>
                <a:ea typeface="Pretendard"/>
                <a:cs typeface="Pretendard"/>
              </a:rPr>
              <a:t>확장: 병원·약국·주민센터 공공 창구, 지자체 재난방송·재난문자 연계 송출(B2G), 교통·공공안내 방송, 다른 저자원 언어·접근성 서비스.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닿다 · SignBridge · 한국수어 양방향 번역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9567" y="654710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심사항목 · 필요성·독창성 25점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371600"/>
            <a:ext cx="3749039" cy="3749039"/>
          </a:xfrm>
          <a:prstGeom prst="ellipse">
            <a:avLst/>
          </a:prstGeom>
          <a:noFill/>
          <a:ln w="20320">
            <a:solidFill>
              <a:srgbClr val="112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81160" y="1920239"/>
            <a:ext cx="2651760" cy="2651760"/>
          </a:xfrm>
          <a:prstGeom prst="ellipse">
            <a:avLst/>
          </a:prstGeom>
          <a:noFill/>
          <a:ln w="20320">
            <a:solidFill>
              <a:srgbClr val="1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2367" y="2441448"/>
            <a:ext cx="1609344" cy="1609344"/>
          </a:xfrm>
          <a:prstGeom prst="ellipse">
            <a:avLst/>
          </a:prstGeom>
          <a:noFill/>
          <a:ln w="20320">
            <a:solidFill>
              <a:srgbClr val="1744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06456" y="3145536"/>
            <a:ext cx="201168" cy="201168"/>
          </a:xfrm>
          <a:prstGeom prst="ellipse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spc="-32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한쪽만 되면 방송이고,</a:t>
            </a:r>
          </a:p>
          <a:p>
            <a:pPr algn="l">
              <a:lnSpc>
                <a:spcPct val="120000"/>
              </a:lnSpc>
            </a:pPr>
            <a:r>
              <a:rPr sz="40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양쪽이 되어야 대화입니다.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977639"/>
            <a:ext cx="2926080" cy="32004"/>
          </a:xfrm>
          <a:prstGeom prst="rect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343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13,576종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8646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Pretendard"/>
                <a:ea typeface="Pretendard"/>
                <a:cs typeface="Pretendard"/>
              </a:rPr>
              <a:t>수어 낱말 인식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343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8646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Pretendard"/>
                <a:ea typeface="Pretendard"/>
                <a:cs typeface="Pretendard"/>
              </a:rPr>
              <a:t>오역 회귀 · 의도 판정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343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35배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8646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Pretendard"/>
                <a:ea typeface="Pretendard"/>
                <a:cs typeface="Pretendard"/>
              </a:rPr>
              <a:t>노드당 동시 수용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4343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2곳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8646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Pretendard"/>
                <a:ea typeface="Pretendard"/>
                <a:cs typeface="Pretendard"/>
              </a:rPr>
              <a:t>복지관 파일럿 성공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4343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-32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5종 + 논문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8646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0AE"/>
                </a:solidFill>
                <a:latin typeface="Pretendard"/>
                <a:ea typeface="Pretendard"/>
                <a:cs typeface="Pretendard"/>
              </a:rPr>
              <a:t>앱 플랫폼 · 학술 논문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18">
                <a:solidFill>
                  <a:srgbClr val="D5DDE5"/>
                </a:solidFill>
                <a:latin typeface="Pretendard"/>
                <a:ea typeface="Pretendard"/>
                <a:cs typeface="Pretendard"/>
              </a:rPr>
              <a:t>감사합니다.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0533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7A88"/>
                </a:solidFill>
                <a:latin typeface="Pretendard"/>
                <a:ea typeface="Pretendard"/>
                <a:cs typeface="Pretendard"/>
              </a:rPr>
              <a:t>닿다 · SignBridge — KOREN 기반 재난정보 한국수어(KSL) 양방향 AI 통역 서비스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